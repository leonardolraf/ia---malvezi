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0" r:id="rId3"/>
    <p:sldId id="293" r:id="rId4"/>
    <p:sldId id="295" r:id="rId5"/>
    <p:sldId id="294" r:id="rId6"/>
    <p:sldId id="305" r:id="rId7"/>
    <p:sldId id="301" r:id="rId8"/>
    <p:sldId id="258" r:id="rId9"/>
    <p:sldId id="259" r:id="rId10"/>
    <p:sldId id="260" r:id="rId11"/>
    <p:sldId id="299" r:id="rId12"/>
    <p:sldId id="261" r:id="rId13"/>
    <p:sldId id="262" r:id="rId14"/>
    <p:sldId id="263" r:id="rId15"/>
    <p:sldId id="264" r:id="rId16"/>
    <p:sldId id="265" r:id="rId17"/>
    <p:sldId id="266" r:id="rId18"/>
    <p:sldId id="296" r:id="rId19"/>
    <p:sldId id="303" r:id="rId20"/>
    <p:sldId id="297" r:id="rId21"/>
    <p:sldId id="302" r:id="rId22"/>
    <p:sldId id="298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6" r:id="rId31"/>
    <p:sldId id="277" r:id="rId32"/>
    <p:sldId id="279" r:id="rId33"/>
    <p:sldId id="280" r:id="rId34"/>
    <p:sldId id="281" r:id="rId35"/>
    <p:sldId id="282" r:id="rId36"/>
    <p:sldId id="283" r:id="rId37"/>
    <p:sldId id="284" r:id="rId38"/>
    <p:sldId id="290" r:id="rId39"/>
    <p:sldId id="291" r:id="rId40"/>
    <p:sldId id="292" r:id="rId41"/>
    <p:sldId id="304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319" r:id="rId5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69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/>
    <p:restoredTop sz="94685"/>
  </p:normalViewPr>
  <p:slideViewPr>
    <p:cSldViewPr>
      <p:cViewPr varScale="1">
        <p:scale>
          <a:sx n="117" d="100"/>
          <a:sy n="117" d="100"/>
        </p:scale>
        <p:origin x="160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72C7-9D24-450D-A230-7F76EF28E2A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6915-5C0F-4284-B83C-34888E7F8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46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72C7-9D24-450D-A230-7F76EF28E2A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6915-5C0F-4284-B83C-34888E7F8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737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72C7-9D24-450D-A230-7F76EF28E2A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6915-5C0F-4284-B83C-34888E7F8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000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72C7-9D24-450D-A230-7F76EF28E2A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6915-5C0F-4284-B83C-34888E7F8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77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72C7-9D24-450D-A230-7F76EF28E2A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6915-5C0F-4284-B83C-34888E7F8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556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72C7-9D24-450D-A230-7F76EF28E2A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6915-5C0F-4284-B83C-34888E7F8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12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72C7-9D24-450D-A230-7F76EF28E2A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6915-5C0F-4284-B83C-34888E7F8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878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72C7-9D24-450D-A230-7F76EF28E2A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6915-5C0F-4284-B83C-34888E7F8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390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72C7-9D24-450D-A230-7F76EF28E2A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6915-5C0F-4284-B83C-34888E7F8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3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72C7-9D24-450D-A230-7F76EF28E2A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6915-5C0F-4284-B83C-34888E7F8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883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72C7-9D24-450D-A230-7F76EF28E2A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6915-5C0F-4284-B83C-34888E7F8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350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772C7-9D24-450D-A230-7F76EF28E2A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B6915-5C0F-4284-B83C-34888E7F8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04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9144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19835" y="6019391"/>
            <a:ext cx="5486399" cy="365125"/>
          </a:xfrm>
        </p:spPr>
        <p:txBody>
          <a:bodyPr anchor="t">
            <a:normAutofit/>
          </a:bodyPr>
          <a:lstStyle/>
          <a:p>
            <a:r>
              <a:rPr lang="pt-B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William Malvezzi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6ACC0E-80B4-F166-F0FE-882A51B547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57"/>
          <a:stretch>
            <a:fillRect/>
          </a:stretch>
        </p:blipFill>
        <p:spPr>
          <a:xfrm>
            <a:off x="20" y="10"/>
            <a:ext cx="9143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5951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52B9C9-8C08-093A-1EB8-82936A13D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6247606" cy="1807305"/>
          </a:xfrm>
        </p:spPr>
        <p:txBody>
          <a:bodyPr>
            <a:normAutofit/>
          </a:bodyPr>
          <a:lstStyle/>
          <a:p>
            <a:r>
              <a:rPr lang="pt-BR" b="1" dirty="0"/>
              <a:t>O Que é a Lógica </a:t>
            </a:r>
            <a:r>
              <a:rPr lang="pt-BR" b="1" dirty="0" err="1"/>
              <a:t>Fuzzy</a:t>
            </a:r>
            <a:r>
              <a:rPr lang="pt-BR" b="1" dirty="0"/>
              <a:t>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2BEFCE-9438-7294-F5C2-81E154EC7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33297"/>
            <a:ext cx="5381224" cy="3843666"/>
          </a:xfrm>
        </p:spPr>
        <p:txBody>
          <a:bodyPr>
            <a:normAutofit/>
          </a:bodyPr>
          <a:lstStyle/>
          <a:p>
            <a:r>
              <a:rPr lang="pt-BR" sz="2000" dirty="0"/>
              <a:t>A lógica </a:t>
            </a:r>
            <a:r>
              <a:rPr lang="pt-BR" sz="2000" dirty="0" err="1"/>
              <a:t>fuzzy</a:t>
            </a:r>
            <a:r>
              <a:rPr lang="pt-BR" sz="2000" dirty="0"/>
              <a:t> é um campo que estuda métodos e princípios do </a:t>
            </a:r>
            <a:r>
              <a:rPr lang="pt-BR" sz="2000" b="1" dirty="0"/>
              <a:t>raciocínio humano</a:t>
            </a:r>
            <a:r>
              <a:rPr lang="pt-BR" sz="2000" dirty="0"/>
              <a:t>.</a:t>
            </a:r>
          </a:p>
          <a:p>
            <a:r>
              <a:rPr lang="pt-BR" sz="2000" dirty="0"/>
              <a:t>Diferente da lógica clássica (binária), que lida com proposições totalmente verdadeiras ou falsas, a lógica </a:t>
            </a:r>
            <a:r>
              <a:rPr lang="pt-BR" sz="2000" dirty="0" err="1"/>
              <a:t>fuzzy</a:t>
            </a:r>
            <a:r>
              <a:rPr lang="pt-BR" sz="2000" dirty="0"/>
              <a:t> permite </a:t>
            </a:r>
            <a:r>
              <a:rPr lang="pt-BR" sz="2000" b="1" dirty="0"/>
              <a:t>valores de verdade parciais</a:t>
            </a:r>
            <a:r>
              <a:rPr lang="pt-BR" sz="2000" dirty="0"/>
              <a:t>.</a:t>
            </a:r>
          </a:p>
          <a:p>
            <a:r>
              <a:rPr lang="pt-BR" sz="2000" dirty="0"/>
              <a:t>Ela fornece as bases para o raciocínio aproximado usando proposições imprecisas baseadas na teoria dos conjuntos </a:t>
            </a:r>
            <a:r>
              <a:rPr lang="pt-BR" sz="2000" dirty="0" err="1"/>
              <a:t>fuzzy</a:t>
            </a:r>
            <a:r>
              <a:rPr lang="pt-BR" sz="2000" dirty="0"/>
              <a:t>.</a:t>
            </a:r>
          </a:p>
          <a:p>
            <a:endParaRPr lang="pt-BR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A27EA3-2100-1C3A-A443-15D6B994BD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9" r="38920"/>
          <a:stretch>
            <a:fillRect/>
          </a:stretch>
        </p:blipFill>
        <p:spPr>
          <a:xfrm>
            <a:off x="6012160" y="10"/>
            <a:ext cx="3131840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8658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Como surgiu a Teoria?</a:t>
            </a:r>
            <a:endParaRPr lang="pt-BR" sz="3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D2B2F-4BBF-85C4-DD0B-87A6751EF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29" b="13929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600"/>
              <a:t>Segundo Zadeh (1965) na medida em que a complexidade vai aumentando, a capacidade de precisar (fazer indicações precisas e significativas) diminui, até que se alcance um limite em que exatidão e relevância se tornam características reciprocamente exclusivas. </a:t>
            </a:r>
          </a:p>
        </p:txBody>
      </p:sp>
    </p:spTree>
    <p:extLst>
      <p:ext uri="{BB962C8B-B14F-4D97-AF65-F5344CB8AC3E}">
        <p14:creationId xmlns:p14="http://schemas.microsoft.com/office/powerpoint/2010/main" val="168510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75E9D8-3670-AA4D-DD48-1263AD0D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5368802" cy="1708242"/>
          </a:xfrm>
        </p:spPr>
        <p:txBody>
          <a:bodyPr anchor="ctr">
            <a:normAutofit/>
          </a:bodyPr>
          <a:lstStyle/>
          <a:p>
            <a:r>
              <a:rPr lang="pt-BR" sz="3200" b="1" dirty="0"/>
              <a:t>Traduzindo o Pensamento Humano para as Máquinas</a:t>
            </a:r>
            <a:endParaRPr lang="pt-BR" sz="32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317562-5A4E-A80B-D034-B13CB7D0D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2470244"/>
            <a:ext cx="6016874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700" b="1" dirty="0"/>
              <a:t>O "Atrevimento" da Lógica </a:t>
            </a:r>
            <a:r>
              <a:rPr lang="pt-BR" sz="1700" b="1" dirty="0" err="1"/>
              <a:t>Fuzzy</a:t>
            </a:r>
            <a:endParaRPr lang="pt-BR" sz="1700" dirty="0"/>
          </a:p>
          <a:p>
            <a:pPr marL="0" indent="0">
              <a:buNone/>
            </a:pPr>
            <a:r>
              <a:rPr lang="pt-BR" sz="1700" b="1" dirty="0"/>
              <a:t>Conceito:</a:t>
            </a:r>
            <a:r>
              <a:rPr lang="pt-BR" sz="1700" dirty="0"/>
              <a:t> Diferente da computação tradicional que usa números, a Lógica Nebulosa sistematiza o uso de </a:t>
            </a:r>
            <a:r>
              <a:rPr lang="pt-BR" sz="1700" b="1" dirty="0"/>
              <a:t>palavras e sentenças</a:t>
            </a:r>
            <a:r>
              <a:rPr lang="pt-BR" sz="1700" dirty="0"/>
              <a:t>.</a:t>
            </a:r>
          </a:p>
          <a:p>
            <a:pPr marL="0" indent="0">
              <a:buNone/>
            </a:pPr>
            <a:r>
              <a:rPr lang="pt-BR" sz="1700" b="1" dirty="0"/>
              <a:t>Insight:</a:t>
            </a:r>
            <a:r>
              <a:rPr lang="pt-BR" sz="1700" dirty="0"/>
              <a:t> Ela tenta representar as "intuições" de quem fala.</a:t>
            </a:r>
          </a:p>
          <a:p>
            <a:pPr marL="0" indent="0">
              <a:buNone/>
            </a:pPr>
            <a:r>
              <a:rPr lang="pt-BR" sz="1700" b="1" dirty="0"/>
              <a:t>Exemplo Criativo:</a:t>
            </a:r>
            <a:r>
              <a:rPr lang="pt-BR" sz="1700" dirty="0"/>
              <a:t> Quando alguém diz "está fazendo calor", a Lógica </a:t>
            </a:r>
            <a:r>
              <a:rPr lang="pt-BR" sz="1700" dirty="0" err="1"/>
              <a:t>Fuzzy</a:t>
            </a:r>
            <a:r>
              <a:rPr lang="pt-BR" sz="1700" dirty="0"/>
              <a:t> não busca um número exato (como 32,5°C), mas entende o </a:t>
            </a:r>
            <a:r>
              <a:rPr lang="pt-BR" sz="1700" b="1" dirty="0"/>
              <a:t>"espaço nuclear"</a:t>
            </a:r>
            <a:r>
              <a:rPr lang="pt-BR" sz="1700" dirty="0"/>
              <a:t> daquela afirmação — ou seja, o contexto de cidades quentes.</a:t>
            </a:r>
          </a:p>
          <a:p>
            <a:pPr marL="0" indent="0">
              <a:buNone/>
            </a:pPr>
            <a:endParaRPr lang="pt-BR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C32B5-059D-A13A-3BF2-0E091ED2F8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17" r="41021" b="-1"/>
          <a:stretch>
            <a:fillRect/>
          </a:stretch>
        </p:blipFill>
        <p:spPr>
          <a:xfrm>
            <a:off x="6732240" y="0"/>
            <a:ext cx="2411760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5380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C9CE695-ADB0-931F-7271-C513C9077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1" y="764704"/>
            <a:ext cx="8796734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9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96C481-3E56-3BF5-CC71-9360B6C11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807446" cy="18073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4100" b="1" dirty="0"/>
              <a:t>Aplicações Práticas no Cotidiano</a:t>
            </a:r>
            <a:endParaRPr lang="pt-BR" sz="41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862E87-F164-5605-FFBF-125FB6EFC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33297"/>
            <a:ext cx="5167486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• </a:t>
            </a:r>
            <a:r>
              <a:rPr lang="pt-BR" sz="2000" b="1" dirty="0"/>
              <a:t>Câmeras Fotográficas:</a:t>
            </a:r>
            <a:r>
              <a:rPr lang="pt-BR" sz="2000" dirty="0"/>
              <a:t> Uso de lógica </a:t>
            </a:r>
            <a:r>
              <a:rPr lang="pt-BR" sz="2000" dirty="0" err="1"/>
              <a:t>fuzzy</a:t>
            </a:r>
            <a:r>
              <a:rPr lang="pt-BR" sz="2000" dirty="0"/>
              <a:t> para controlar o foco automático e garantir imagens nítidas através da detecção de bordas.</a:t>
            </a:r>
          </a:p>
          <a:p>
            <a:pPr marL="0" indent="0">
              <a:buNone/>
            </a:pPr>
            <a:r>
              <a:rPr lang="pt-BR" sz="2000" dirty="0"/>
              <a:t>• </a:t>
            </a:r>
            <a:r>
              <a:rPr lang="pt-BR" sz="2000" b="1" dirty="0"/>
              <a:t>Saúde:</a:t>
            </a:r>
            <a:r>
              <a:rPr lang="pt-BR" sz="2000" dirty="0"/>
              <a:t> Sistemas especialistas para monitorar sinais vitais (temperatura, pressão, batimentos) e diagnosticar condições como hipotermia ou hipertensão.</a:t>
            </a:r>
          </a:p>
          <a:p>
            <a:pPr marL="0" indent="0">
              <a:buNone/>
            </a:pPr>
            <a:r>
              <a:rPr lang="pt-BR" sz="2000" dirty="0"/>
              <a:t>• </a:t>
            </a:r>
            <a:r>
              <a:rPr lang="pt-BR" sz="2000" b="1" dirty="0"/>
              <a:t>Robótica:</a:t>
            </a:r>
            <a:r>
              <a:rPr lang="pt-BR" sz="2000" dirty="0"/>
              <a:t> Controle de braços robóticos (manipuladores) que possuem movimentos altamente complexos e não lineares.</a:t>
            </a:r>
          </a:p>
          <a:p>
            <a:pPr marL="0" indent="0">
              <a:buNone/>
            </a:pPr>
            <a:endParaRPr lang="pt-BR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9AD46-6941-7DB5-F48D-B5B59D855A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55" r="48865"/>
          <a:stretch>
            <a:fillRect/>
          </a:stretch>
        </p:blipFill>
        <p:spPr>
          <a:xfrm>
            <a:off x="6012160" y="10"/>
            <a:ext cx="3131840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24640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79ACA9-CF0D-9590-E1C2-422182917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6319614" cy="18073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4100" b="1" dirty="0"/>
              <a:t>Conjuntos Clássicos vs. Conjuntos </a:t>
            </a:r>
            <a:r>
              <a:rPr lang="pt-BR" sz="4100" b="1" dirty="0" err="1"/>
              <a:t>Fuzzy</a:t>
            </a:r>
            <a:endParaRPr lang="pt-BR" sz="41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A5EBEF-CB52-45E3-60C0-0325C5A3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33297"/>
            <a:ext cx="6175598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• Na teoria clássica, existe uma distinção nítida e clara entre quem pertence ou não a um conjunto (sim ou não).</a:t>
            </a:r>
          </a:p>
          <a:p>
            <a:pPr marL="0" indent="0">
              <a:buNone/>
            </a:pPr>
            <a:r>
              <a:rPr lang="pt-BR" sz="2000" dirty="0"/>
              <a:t>• A </a:t>
            </a:r>
            <a:r>
              <a:rPr lang="pt-BR" sz="2000" b="1" dirty="0"/>
              <a:t>teoria dos conjuntos </a:t>
            </a:r>
            <a:r>
              <a:rPr lang="pt-BR" sz="2000" b="1" dirty="0" err="1"/>
              <a:t>fuzzy</a:t>
            </a:r>
            <a:r>
              <a:rPr lang="pt-BR" sz="2000" dirty="0"/>
              <a:t> aceita pertinências parciais, permitindo que um elemento pertença a um conjunto com um determinado grau.</a:t>
            </a:r>
          </a:p>
          <a:p>
            <a:pPr marL="0" indent="0">
              <a:buNone/>
            </a:pPr>
            <a:r>
              <a:rPr lang="pt-BR" sz="2000" dirty="0"/>
              <a:t>• Isso torna a lógica </a:t>
            </a:r>
            <a:r>
              <a:rPr lang="pt-BR" sz="2000" dirty="0" err="1"/>
              <a:t>fuzzy</a:t>
            </a:r>
            <a:r>
              <a:rPr lang="pt-BR" sz="2000" dirty="0"/>
              <a:t> uma generalização natural e rigorosa da matemática clássica para lidar com o mundo real impreciso.</a:t>
            </a:r>
          </a:p>
          <a:p>
            <a:pPr marL="0" indent="0">
              <a:buNone/>
            </a:pPr>
            <a:endParaRPr lang="pt-BR" sz="1700" dirty="0"/>
          </a:p>
        </p:txBody>
      </p:sp>
      <p:pic>
        <p:nvPicPr>
          <p:cNvPr id="5" name="Picture 4" descr="Caderneta">
            <a:extLst>
              <a:ext uri="{FF2B5EF4-FFF2-40B4-BE49-F238E27FC236}">
                <a16:creationId xmlns:a16="http://schemas.microsoft.com/office/drawing/2014/main" id="{19FA427D-2B89-006F-D7B1-225F098781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86" r="36385" b="-1"/>
          <a:stretch>
            <a:fillRect/>
          </a:stretch>
        </p:blipFill>
        <p:spPr>
          <a:xfrm>
            <a:off x="7092280" y="260648"/>
            <a:ext cx="2051720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08286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05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Conjuntos Clássicos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5" t="17739" r="21414" b="29565"/>
          <a:stretch/>
        </p:blipFill>
        <p:spPr bwMode="auto">
          <a:xfrm>
            <a:off x="482600" y="1965993"/>
            <a:ext cx="8178799" cy="381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5550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Rectangle 307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Conjuntos Clássicos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39" t="17217" r="15978" b="16522"/>
          <a:stretch/>
        </p:blipFill>
        <p:spPr bwMode="auto">
          <a:xfrm>
            <a:off x="1267689" y="1675227"/>
            <a:ext cx="6608621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4337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pt-BR" sz="2800">
                <a:solidFill>
                  <a:schemeClr val="bg1"/>
                </a:solidFill>
              </a:rPr>
              <a:t>Problemas/Conjuntos Clássicos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5" t="28348" r="14349" b="6956"/>
          <a:stretch/>
        </p:blipFill>
        <p:spPr bwMode="auto">
          <a:xfrm>
            <a:off x="750727" y="1675227"/>
            <a:ext cx="7642545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8428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6CF35-D47A-F304-81F6-F458EE41F1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28" r="60591"/>
          <a:stretch>
            <a:fillRect/>
          </a:stretch>
        </p:blipFill>
        <p:spPr>
          <a:xfrm>
            <a:off x="21" y="-2"/>
            <a:ext cx="2051700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80BF31-8B60-AFDE-F05F-628163E1D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3809" y="1052736"/>
            <a:ext cx="5678184" cy="51873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A Lógica </a:t>
            </a:r>
            <a:r>
              <a:rPr lang="pt-BR" sz="2000" dirty="0" err="1"/>
              <a:t>Fuzzy</a:t>
            </a:r>
            <a:r>
              <a:rPr lang="pt-BR" sz="2000" dirty="0"/>
              <a:t> é como um </a:t>
            </a:r>
            <a:r>
              <a:rPr lang="pt-BR" sz="2000" b="1" dirty="0"/>
              <a:t>chef de cozinha</a:t>
            </a:r>
            <a:r>
              <a:rPr lang="pt-BR" sz="2000" dirty="0"/>
              <a:t> experiente. Ele não mede "5,23 gramas de sal" (Lógica Clássica). Ele usa uma "pitada generosa" (Variável Linguística). Se a comida está "muito insossa" (Modificador), ele adiciona sal até que o sabor esteja "no ponto" (Inferência). A Lógica </a:t>
            </a:r>
            <a:r>
              <a:rPr lang="pt-BR" sz="2000" dirty="0" err="1"/>
              <a:t>Fuzzy</a:t>
            </a:r>
            <a:r>
              <a:rPr lang="pt-BR" sz="2000" dirty="0"/>
              <a:t> permite que os computadores finalmente entendam o que é esse "no ponto".</a:t>
            </a:r>
          </a:p>
        </p:txBody>
      </p:sp>
    </p:spTree>
    <p:extLst>
      <p:ext uri="{BB962C8B-B14F-4D97-AF65-F5344CB8AC3E}">
        <p14:creationId xmlns:p14="http://schemas.microsoft.com/office/powerpoint/2010/main" val="2384126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com conjuntos clássicos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5" t="39167" r="11563" b="21833"/>
          <a:stretch/>
        </p:blipFill>
        <p:spPr bwMode="auto">
          <a:xfrm>
            <a:off x="107504" y="1844824"/>
            <a:ext cx="8804671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077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/>
              <a:t>Tabelas Verdade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22" t="18956" r="17717" b="16696"/>
          <a:stretch/>
        </p:blipFill>
        <p:spPr bwMode="auto">
          <a:xfrm>
            <a:off x="683568" y="1432383"/>
            <a:ext cx="7712766" cy="4903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690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 fontScale="90000"/>
          </a:bodyPr>
          <a:lstStyle/>
          <a:p>
            <a:r>
              <a:rPr lang="pt-BR" u="sng" dirty="0"/>
              <a:t>Propriedades de Conjuntos Clássicos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2" t="42087" r="13261" b="10000"/>
          <a:stretch/>
        </p:blipFill>
        <p:spPr bwMode="auto">
          <a:xfrm>
            <a:off x="8260" y="1772815"/>
            <a:ext cx="8956228" cy="3819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5139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u="sng" dirty="0"/>
              <a:t>Propriedades de Conjuntos Clássicos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31" t="30435" r="18695" b="6261"/>
          <a:stretch/>
        </p:blipFill>
        <p:spPr bwMode="auto">
          <a:xfrm>
            <a:off x="83369" y="1340768"/>
            <a:ext cx="8017023" cy="5547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8624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pt-BR" u="sng" dirty="0"/>
              <a:t>Leis de Aristóteles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7" t="29913" r="16631" b="10000"/>
          <a:stretch/>
        </p:blipFill>
        <p:spPr bwMode="auto">
          <a:xfrm>
            <a:off x="107504" y="1484784"/>
            <a:ext cx="8624704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1996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/>
              <a:t>Leis de Aristóteles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22" t="34435" r="11739" b="10000"/>
          <a:stretch/>
        </p:blipFill>
        <p:spPr bwMode="auto">
          <a:xfrm>
            <a:off x="99390" y="1844824"/>
            <a:ext cx="9044610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5269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A60204-FDE7-80F6-2BD2-FC4106AD1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6304906" cy="1708242"/>
          </a:xfrm>
        </p:spPr>
        <p:txBody>
          <a:bodyPr anchor="ctr">
            <a:normAutofit/>
          </a:bodyPr>
          <a:lstStyle/>
          <a:p>
            <a:r>
              <a:rPr lang="pt-BR" sz="3200" b="1" dirty="0"/>
              <a:t>A Variável Linguística – A Anatomia de um Conceito</a:t>
            </a:r>
            <a:endParaRPr lang="pt-BR" sz="32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1AC3AE-BB21-225D-0BB4-0491017BA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2470244"/>
            <a:ext cx="6304906" cy="3769835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2000" b="1" dirty="0"/>
              <a:t>Definição:</a:t>
            </a:r>
            <a:r>
              <a:rPr lang="pt-BR" sz="2000" dirty="0"/>
              <a:t> Uma variável linguística é composta por uma </a:t>
            </a:r>
            <a:r>
              <a:rPr lang="pt-BR" sz="2000" b="1" dirty="0"/>
              <a:t>quíntupla</a:t>
            </a:r>
            <a:r>
              <a:rPr lang="pt-BR" sz="2000" dirty="0"/>
              <a:t> &lt;</a:t>
            </a:r>
            <a:r>
              <a:rPr lang="pt-BR" sz="2000" dirty="0" err="1"/>
              <a:t>x</a:t>
            </a:r>
            <a:r>
              <a:rPr lang="pt-BR" sz="2000" dirty="0"/>
              <a:t>, </a:t>
            </a:r>
            <a:r>
              <a:rPr lang="pt-BR" sz="2000" dirty="0" err="1"/>
              <a:t>T</a:t>
            </a:r>
            <a:r>
              <a:rPr lang="pt-BR" sz="2000" dirty="0"/>
              <a:t>(</a:t>
            </a:r>
            <a:r>
              <a:rPr lang="pt-BR" sz="2000" dirty="0" err="1"/>
              <a:t>x</a:t>
            </a:r>
            <a:r>
              <a:rPr lang="pt-BR" sz="2000" dirty="0"/>
              <a:t>), </a:t>
            </a:r>
            <a:r>
              <a:rPr lang="pt-BR" sz="2000" dirty="0" err="1"/>
              <a:t>U</a:t>
            </a:r>
            <a:r>
              <a:rPr lang="pt-BR" sz="2000" dirty="0"/>
              <a:t>, </a:t>
            </a:r>
            <a:r>
              <a:rPr lang="pt-BR" sz="2000" dirty="0" err="1"/>
              <a:t>G</a:t>
            </a:r>
            <a:r>
              <a:rPr lang="pt-BR" sz="2000" dirty="0"/>
              <a:t>, M&gt;:</a:t>
            </a:r>
          </a:p>
          <a:p>
            <a:pPr marL="0" indent="0">
              <a:lnSpc>
                <a:spcPct val="90000"/>
              </a:lnSpc>
              <a:buNone/>
            </a:pPr>
            <a:endParaRPr lang="pt-BR" sz="2000" dirty="0"/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1. </a:t>
            </a:r>
            <a:r>
              <a:rPr lang="pt-BR" sz="2000" b="1" dirty="0" err="1"/>
              <a:t>x</a:t>
            </a:r>
            <a:r>
              <a:rPr lang="pt-BR" sz="2000" b="1" dirty="0"/>
              <a:t>:</a:t>
            </a:r>
            <a:r>
              <a:rPr lang="pt-BR" sz="2000" dirty="0"/>
              <a:t> Nome (</a:t>
            </a:r>
            <a:r>
              <a:rPr lang="pt-BR" sz="2000" dirty="0" err="1"/>
              <a:t>ex</a:t>
            </a:r>
            <a:r>
              <a:rPr lang="pt-BR" sz="2000" dirty="0"/>
              <a:t>: Idade).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2. </a:t>
            </a:r>
            <a:r>
              <a:rPr lang="pt-BR" sz="2000" b="1" dirty="0" err="1"/>
              <a:t>T</a:t>
            </a:r>
            <a:r>
              <a:rPr lang="pt-BR" sz="2000" b="1" dirty="0"/>
              <a:t>(</a:t>
            </a:r>
            <a:r>
              <a:rPr lang="pt-BR" sz="2000" b="1" dirty="0" err="1"/>
              <a:t>x</a:t>
            </a:r>
            <a:r>
              <a:rPr lang="pt-BR" sz="2000" b="1" dirty="0"/>
              <a:t>):</a:t>
            </a:r>
            <a:r>
              <a:rPr lang="pt-BR" sz="2000" dirty="0"/>
              <a:t> Etiquetas (</a:t>
            </a:r>
            <a:r>
              <a:rPr lang="pt-BR" sz="2000" dirty="0" err="1"/>
              <a:t>ex</a:t>
            </a:r>
            <a:r>
              <a:rPr lang="pt-BR" sz="2000" dirty="0"/>
              <a:t>: Jovem, Velho).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3. </a:t>
            </a:r>
            <a:r>
              <a:rPr lang="pt-BR" sz="2000" b="1" dirty="0" err="1"/>
              <a:t>U</a:t>
            </a:r>
            <a:r>
              <a:rPr lang="pt-BR" sz="2000" b="1" dirty="0"/>
              <a:t>:</a:t>
            </a:r>
            <a:r>
              <a:rPr lang="pt-BR" sz="2000" dirty="0"/>
              <a:t> Universo de discurso (</a:t>
            </a:r>
            <a:r>
              <a:rPr lang="pt-BR" sz="2000" dirty="0" err="1"/>
              <a:t>ex</a:t>
            </a:r>
            <a:r>
              <a:rPr lang="pt-BR" sz="2000" dirty="0"/>
              <a:t>: 0 a 100 anos).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4. </a:t>
            </a:r>
            <a:r>
              <a:rPr lang="pt-BR" sz="2000" b="1" dirty="0" err="1"/>
              <a:t>G</a:t>
            </a:r>
            <a:r>
              <a:rPr lang="pt-BR" sz="2000" b="1" dirty="0"/>
              <a:t>:</a:t>
            </a:r>
            <a:r>
              <a:rPr lang="pt-BR" sz="2000" dirty="0"/>
              <a:t> Regras sintáticas para gerar frases.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5. </a:t>
            </a:r>
            <a:r>
              <a:rPr lang="pt-BR" sz="2000" b="1" dirty="0"/>
              <a:t>M:</a:t>
            </a:r>
            <a:r>
              <a:rPr lang="pt-BR" sz="2000" dirty="0"/>
              <a:t> Regras semânticas que dão significado (funções de pertinência).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b="1" dirty="0"/>
              <a:t>Exemplo Prático:</a:t>
            </a:r>
            <a:r>
              <a:rPr lang="pt-BR" sz="2000" dirty="0"/>
              <a:t> Imagine a variável </a:t>
            </a:r>
            <a:r>
              <a:rPr lang="pt-BR" sz="2000" b="1" dirty="0"/>
              <a:t>"Velocidade"</a:t>
            </a:r>
            <a:r>
              <a:rPr lang="pt-BR" sz="2000" dirty="0"/>
              <a:t>. Seus valores não são "80 km/</a:t>
            </a:r>
            <a:r>
              <a:rPr lang="pt-BR" sz="2000" dirty="0" err="1"/>
              <a:t>h</a:t>
            </a:r>
            <a:r>
              <a:rPr lang="pt-BR" sz="2000" dirty="0"/>
              <a:t>", mas sim "Devagar", "Rápido" ou "Muito Rápido"</a:t>
            </a:r>
          </a:p>
          <a:p>
            <a:pPr>
              <a:lnSpc>
                <a:spcPct val="90000"/>
              </a:lnSpc>
            </a:pPr>
            <a:endParaRPr lang="pt-BR" sz="1600" dirty="0"/>
          </a:p>
        </p:txBody>
      </p:sp>
      <p:pic>
        <p:nvPicPr>
          <p:cNvPr id="5" name="Picture 4" descr="Fórmulas químicas escritas em papel">
            <a:extLst>
              <a:ext uri="{FF2B5EF4-FFF2-40B4-BE49-F238E27FC236}">
                <a16:creationId xmlns:a16="http://schemas.microsoft.com/office/drawing/2014/main" id="{2C9FBD39-2002-2570-DF51-4FD7A38E68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72" r="33666" b="-1"/>
          <a:stretch>
            <a:fillRect/>
          </a:stretch>
        </p:blipFill>
        <p:spPr>
          <a:xfrm>
            <a:off x="7092280" y="-10886"/>
            <a:ext cx="2051720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1312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4CBDBB-4FBD-4B9E-BD01-054A81D4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1A6F03-171F-40B2-8B2C-A061B8924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2C4834C-B602-4125-8264-BD0D55A58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72EE5-132F-4DD4-8855-4DBBD9C34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883" y="1110000"/>
            <a:ext cx="7646805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CAE0A6-93F4-589A-D168-08829722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156" y="1302871"/>
            <a:ext cx="6141019" cy="2044650"/>
          </a:xfrm>
        </p:spPr>
        <p:txBody>
          <a:bodyPr anchor="b">
            <a:normAutofit/>
          </a:bodyPr>
          <a:lstStyle/>
          <a:p>
            <a:r>
              <a:rPr lang="pt-BR" sz="4200" b="1"/>
              <a:t>Raciocínio Aproximado e Linguagem</a:t>
            </a:r>
            <a:endParaRPr lang="pt-BR" sz="42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8E325E-09AD-DB60-D21A-BDFAEFDC8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883" y="3519235"/>
            <a:ext cx="7646805" cy="2219999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pt-BR" sz="2000" dirty="0"/>
              <a:t>A lógica </a:t>
            </a:r>
            <a:r>
              <a:rPr lang="pt-BR" sz="2000" dirty="0" err="1"/>
              <a:t>fuzzy</a:t>
            </a:r>
            <a:r>
              <a:rPr lang="pt-BR" sz="2000" dirty="0"/>
              <a:t> permite o uso de termos linguísticos imprecisos que humanos usam diariamente.</a:t>
            </a:r>
          </a:p>
          <a:p>
            <a:pPr marL="0" indent="0" algn="ctr">
              <a:buNone/>
            </a:pPr>
            <a:r>
              <a:rPr lang="pt-BR" sz="2000" dirty="0"/>
              <a:t>• </a:t>
            </a:r>
            <a:r>
              <a:rPr lang="pt-BR" sz="2000" b="1" dirty="0"/>
              <a:t>Predicados </a:t>
            </a:r>
            <a:r>
              <a:rPr lang="pt-BR" sz="2000" b="1" dirty="0" err="1"/>
              <a:t>Fuzzy</a:t>
            </a:r>
            <a:r>
              <a:rPr lang="pt-BR" sz="2000" b="1" dirty="0"/>
              <a:t>:</a:t>
            </a:r>
            <a:r>
              <a:rPr lang="pt-BR" sz="2000" dirty="0"/>
              <a:t> "velho", "raro", "caro", "rápido".</a:t>
            </a:r>
          </a:p>
          <a:p>
            <a:pPr marL="0" indent="0" algn="ctr">
              <a:buNone/>
            </a:pPr>
            <a:r>
              <a:rPr lang="pt-BR" sz="2000" dirty="0"/>
              <a:t>• </a:t>
            </a:r>
            <a:r>
              <a:rPr lang="pt-BR" sz="2000" b="1" dirty="0"/>
              <a:t>Quantificadores </a:t>
            </a:r>
            <a:r>
              <a:rPr lang="pt-BR" sz="2000" b="1" dirty="0" err="1"/>
              <a:t>Fuzzy</a:t>
            </a:r>
            <a:r>
              <a:rPr lang="pt-BR" sz="2000" b="1" dirty="0"/>
              <a:t>:</a:t>
            </a:r>
            <a:r>
              <a:rPr lang="pt-BR" sz="2000" dirty="0"/>
              <a:t> "muitos", "poucos", "geralmente", "quase".</a:t>
            </a:r>
          </a:p>
          <a:p>
            <a:pPr marL="0" indent="0" algn="ctr">
              <a:buNone/>
            </a:pPr>
            <a:r>
              <a:rPr lang="pt-BR" sz="2000" dirty="0"/>
              <a:t>• Isso permite que as máquinas processem instruções como "Se a temperatura estiver </a:t>
            </a:r>
            <a:r>
              <a:rPr lang="pt-BR" sz="2000" b="1" dirty="0"/>
              <a:t>muito alta</a:t>
            </a:r>
            <a:r>
              <a:rPr lang="pt-BR" sz="2000" dirty="0"/>
              <a:t>, então esfrie </a:t>
            </a:r>
            <a:r>
              <a:rPr lang="pt-BR" sz="2000" b="1" dirty="0"/>
              <a:t>rapidamente</a:t>
            </a:r>
            <a:r>
              <a:rPr lang="pt-BR" sz="2000" dirty="0"/>
              <a:t>".</a:t>
            </a:r>
          </a:p>
          <a:p>
            <a:pPr marL="0" indent="0" algn="ctr">
              <a:buNone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968115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1E54EC-50B1-9D15-90A0-DB775A6DC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5656834" cy="1708242"/>
          </a:xfrm>
        </p:spPr>
        <p:txBody>
          <a:bodyPr anchor="ctr">
            <a:normAutofit/>
          </a:bodyPr>
          <a:lstStyle/>
          <a:p>
            <a:r>
              <a:rPr lang="pt-BR" sz="3500" b="1" dirty="0"/>
              <a:t>Sintagmas e Significados</a:t>
            </a:r>
            <a:endParaRPr lang="pt-BR" sz="35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C1A8FD-3A5C-DB08-A759-14E0C8F33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2470244"/>
            <a:ext cx="6984776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b="1" dirty="0"/>
              <a:t>O que é um Sintagma?</a:t>
            </a:r>
            <a:r>
              <a:rPr lang="pt-BR" sz="2000" dirty="0"/>
              <a:t> É a fusão de um substantivo com um adjetivo (</a:t>
            </a:r>
            <a:r>
              <a:rPr lang="pt-BR" sz="2000" dirty="0" err="1"/>
              <a:t>ex</a:t>
            </a:r>
            <a:r>
              <a:rPr lang="pt-BR" sz="2000" dirty="0"/>
              <a:t>: "Pressão Alta").</a:t>
            </a:r>
          </a:p>
          <a:p>
            <a:pPr marL="0" indent="0">
              <a:buNone/>
            </a:pPr>
            <a:r>
              <a:rPr lang="pt-BR" sz="2000" b="1" dirty="0"/>
              <a:t>A Relação Semântica:</a:t>
            </a:r>
            <a:r>
              <a:rPr lang="pt-BR" sz="2000" dirty="0"/>
              <a:t> O significado de um sintagma é o grau de compatibilidade de um elemento com esse termo (função de pertinência).</a:t>
            </a:r>
          </a:p>
          <a:p>
            <a:pPr marL="0" indent="0">
              <a:buNone/>
            </a:pPr>
            <a:r>
              <a:rPr lang="pt-BR" sz="2000" b="1" dirty="0"/>
              <a:t>Cálculo Booleano </a:t>
            </a:r>
            <a:r>
              <a:rPr lang="pt-BR" sz="2000" b="1" dirty="0" err="1"/>
              <a:t>Fuzzy</a:t>
            </a:r>
            <a:r>
              <a:rPr lang="pt-BR" sz="2000" b="1" dirty="0"/>
              <a:t>:</a:t>
            </a:r>
            <a:r>
              <a:rPr lang="pt-BR" sz="2000" dirty="0"/>
              <a:t> Podemos combinar termos usando operadores:</a:t>
            </a:r>
          </a:p>
          <a:p>
            <a:pPr marL="0" indent="0">
              <a:buNone/>
            </a:pPr>
            <a:r>
              <a:rPr lang="pt-BR" sz="2000" dirty="0"/>
              <a:t>◦ </a:t>
            </a:r>
            <a:r>
              <a:rPr lang="pt-BR" sz="2000" b="1" dirty="0"/>
              <a:t>AND (E):</a:t>
            </a:r>
            <a:r>
              <a:rPr lang="pt-BR" sz="2000" dirty="0"/>
              <a:t> Intersecção (usualmente o </a:t>
            </a:r>
            <a:r>
              <a:rPr lang="pt-BR" sz="2000" i="1" dirty="0"/>
              <a:t>mínimo</a:t>
            </a:r>
            <a:r>
              <a:rPr lang="pt-BR" sz="2000" dirty="0"/>
              <a:t>).</a:t>
            </a:r>
          </a:p>
          <a:p>
            <a:pPr marL="0" indent="0">
              <a:buNone/>
            </a:pPr>
            <a:r>
              <a:rPr lang="pt-BR" sz="2000" dirty="0"/>
              <a:t>◦ </a:t>
            </a:r>
            <a:r>
              <a:rPr lang="pt-BR" sz="2000" b="1" dirty="0"/>
              <a:t>OR (OU):</a:t>
            </a:r>
            <a:r>
              <a:rPr lang="pt-BR" sz="2000" dirty="0"/>
              <a:t> União (usualmente o </a:t>
            </a:r>
            <a:r>
              <a:rPr lang="pt-BR" sz="2000" i="1" dirty="0"/>
              <a:t>máximo</a:t>
            </a:r>
            <a:r>
              <a:rPr lang="pt-BR" sz="2000" dirty="0"/>
              <a:t>).</a:t>
            </a:r>
          </a:p>
          <a:p>
            <a:pPr marL="0" indent="0">
              <a:buNone/>
            </a:pPr>
            <a:r>
              <a:rPr lang="pt-BR" sz="2000" dirty="0"/>
              <a:t>◦ </a:t>
            </a:r>
            <a:r>
              <a:rPr lang="pt-BR" sz="2000" b="1" dirty="0"/>
              <a:t>NOT (NÃO):</a:t>
            </a:r>
            <a:r>
              <a:rPr lang="pt-BR" sz="2000" dirty="0"/>
              <a:t> Negação (complemento).</a:t>
            </a:r>
          </a:p>
          <a:p>
            <a:pPr marL="0" indent="0">
              <a:buNone/>
            </a:pPr>
            <a:endParaRPr lang="pt-BR" sz="1700" dirty="0"/>
          </a:p>
        </p:txBody>
      </p:sp>
      <p:pic>
        <p:nvPicPr>
          <p:cNvPr id="5" name="Picture 4" descr="Fórmulas escritas em um quadro-negro">
            <a:extLst>
              <a:ext uri="{FF2B5EF4-FFF2-40B4-BE49-F238E27FC236}">
                <a16:creationId xmlns:a16="http://schemas.microsoft.com/office/drawing/2014/main" id="{78919C29-0247-E092-0A19-E2F2F7A6A1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62" r="32461" b="-1"/>
          <a:stretch>
            <a:fillRect/>
          </a:stretch>
        </p:blipFill>
        <p:spPr>
          <a:xfrm>
            <a:off x="7596336" y="-10886"/>
            <a:ext cx="154766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8794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03B940-6D85-91B5-A40B-47813BDA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26720"/>
            <a:ext cx="7879842" cy="1919141"/>
          </a:xfrm>
        </p:spPr>
        <p:txBody>
          <a:bodyPr anchor="b">
            <a:normAutofit/>
          </a:bodyPr>
          <a:lstStyle/>
          <a:p>
            <a:r>
              <a:rPr lang="pt-BR" sz="5200" b="1"/>
              <a:t>A Função de Pertinência (</a:t>
            </a:r>
            <a:r>
              <a:rPr lang="el-GR" sz="5200" i="1"/>
              <a:t>μ</a:t>
            </a:r>
            <a:r>
              <a:rPr lang="el-GR" sz="5200" b="1"/>
              <a:t>)</a:t>
            </a:r>
            <a:endParaRPr lang="pt-BR" sz="5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D04CE2-1FDC-EC47-B9C1-C1E52DC55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3337269"/>
            <a:ext cx="7882128" cy="290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900" dirty="0"/>
              <a:t>A função de pertinência quantifica o grau em que um elemento pertence a um conjunto </a:t>
            </a:r>
            <a:r>
              <a:rPr lang="pt-BR" sz="1900" dirty="0" err="1"/>
              <a:t>fuzzy</a:t>
            </a:r>
            <a:r>
              <a:rPr lang="pt-BR" sz="1900" dirty="0"/>
              <a:t>, variando geralmente entre 0 e 1.</a:t>
            </a:r>
          </a:p>
          <a:p>
            <a:pPr marL="0" indent="0">
              <a:buNone/>
            </a:pPr>
            <a:r>
              <a:rPr lang="pt-BR" sz="1900" dirty="0"/>
              <a:t>• </a:t>
            </a:r>
            <a:r>
              <a:rPr lang="pt-BR" sz="1900" b="1" dirty="0"/>
              <a:t>Exemplo:</a:t>
            </a:r>
            <a:r>
              <a:rPr lang="pt-BR" sz="1900" dirty="0"/>
              <a:t> Para definir o conceito de "pessoa idosa", uma pessoa de 40 anos pode ter um grau de pertinência de 0.5 (meio idosa), enquanto alguém de 120 anos tem pertinência 1.0 (absolutamente idosa).</a:t>
            </a:r>
          </a:p>
          <a:p>
            <a:pPr marL="0" indent="0">
              <a:buNone/>
            </a:pPr>
            <a:r>
              <a:rPr lang="pt-BR" sz="1900" dirty="0"/>
              <a:t>A escolha dessas funções é </a:t>
            </a:r>
            <a:r>
              <a:rPr lang="pt-BR" sz="1900" b="1" dirty="0"/>
              <a:t>subjetiva</a:t>
            </a:r>
            <a:r>
              <a:rPr lang="pt-BR" sz="1900" dirty="0"/>
              <a:t> e depende do conhecimento científico e da experiência prática do projetista para cada aplicação.</a:t>
            </a:r>
          </a:p>
          <a:p>
            <a:pPr marL="0" indent="0">
              <a:buNone/>
            </a:pPr>
            <a:endParaRPr lang="pt-BR" sz="1900" dirty="0"/>
          </a:p>
        </p:txBody>
      </p:sp>
    </p:spTree>
    <p:extLst>
      <p:ext uri="{BB962C8B-B14F-4D97-AF65-F5344CB8AC3E}">
        <p14:creationId xmlns:p14="http://schemas.microsoft.com/office/powerpoint/2010/main" val="2645860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069678-0243-75B7-58E2-EB2CCE237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7169002" cy="1708242"/>
          </a:xfrm>
        </p:spPr>
        <p:txBody>
          <a:bodyPr anchor="ctr">
            <a:normAutofit/>
          </a:bodyPr>
          <a:lstStyle/>
          <a:p>
            <a:r>
              <a:rPr lang="pt-BR" sz="3500" b="1" dirty="0"/>
              <a:t>Inferência Nebulosa – Tomando Decisões</a:t>
            </a:r>
            <a:endParaRPr lang="pt-BR" sz="35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D27B5C-7A71-D3DB-4FF8-02A14F3C6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2470244"/>
            <a:ext cx="6304906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700" b="1" dirty="0"/>
              <a:t>Regras IF-THEN:</a:t>
            </a:r>
            <a:r>
              <a:rPr lang="pt-BR" sz="1700" dirty="0"/>
              <a:t> A base do raciocínio especialista.</a:t>
            </a:r>
          </a:p>
          <a:p>
            <a:pPr marL="0" indent="0">
              <a:buNone/>
            </a:pPr>
            <a:r>
              <a:rPr lang="pt-BR" sz="1700" dirty="0"/>
              <a:t>• </a:t>
            </a:r>
            <a:r>
              <a:rPr lang="pt-BR" sz="1700" b="1" dirty="0"/>
              <a:t>Estrutura:</a:t>
            </a:r>
            <a:r>
              <a:rPr lang="pt-BR" sz="1700" dirty="0"/>
              <a:t> IF (Antecedente) THEN (Consequente).</a:t>
            </a:r>
          </a:p>
          <a:p>
            <a:pPr marL="0" indent="0">
              <a:buNone/>
            </a:pPr>
            <a:r>
              <a:rPr lang="pt-BR" sz="1700" dirty="0"/>
              <a:t>• </a:t>
            </a:r>
            <a:r>
              <a:rPr lang="pt-BR" sz="1700" b="1" dirty="0"/>
              <a:t>Exemplo de Sistema de Ar-Condicionado:</a:t>
            </a:r>
            <a:r>
              <a:rPr lang="pt-BR" sz="1700" dirty="0"/>
              <a:t>◦ </a:t>
            </a:r>
            <a:r>
              <a:rPr lang="pt-BR" sz="1700" b="1" dirty="0"/>
              <a:t>Regra 1:</a:t>
            </a:r>
            <a:r>
              <a:rPr lang="pt-BR" sz="1700" dirty="0"/>
              <a:t> SE a temperatura estiver </a:t>
            </a:r>
            <a:r>
              <a:rPr lang="pt-BR" sz="1700" b="1" dirty="0"/>
              <a:t>Muito Alta</a:t>
            </a:r>
            <a:r>
              <a:rPr lang="pt-BR" sz="1700" dirty="0"/>
              <a:t> E a umidade estiver </a:t>
            </a:r>
            <a:r>
              <a:rPr lang="pt-BR" sz="1700" b="1" dirty="0"/>
              <a:t>Baixa</a:t>
            </a:r>
            <a:r>
              <a:rPr lang="pt-BR" sz="1700" dirty="0"/>
              <a:t>, ENTÃO a potência do ventilador é </a:t>
            </a:r>
            <a:r>
              <a:rPr lang="pt-BR" sz="1700" b="1" dirty="0"/>
              <a:t>Máxima</a:t>
            </a:r>
            <a:r>
              <a:rPr lang="pt-BR" sz="1700" dirty="0"/>
              <a:t>.</a:t>
            </a:r>
          </a:p>
          <a:p>
            <a:pPr marL="0" indent="0">
              <a:buNone/>
            </a:pPr>
            <a:endParaRPr lang="pt-BR" sz="1700" dirty="0"/>
          </a:p>
        </p:txBody>
      </p:sp>
      <p:pic>
        <p:nvPicPr>
          <p:cNvPr id="5" name="Picture 4" descr="Fórmulas escritas em um quadro-negro">
            <a:extLst>
              <a:ext uri="{FF2B5EF4-FFF2-40B4-BE49-F238E27FC236}">
                <a16:creationId xmlns:a16="http://schemas.microsoft.com/office/drawing/2014/main" id="{C970001C-108D-75B4-F5B3-EAB16DCE47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62" r="32461" b="-1"/>
          <a:stretch>
            <a:fillRect/>
          </a:stretch>
        </p:blipFill>
        <p:spPr>
          <a:xfrm>
            <a:off x="7308304" y="260648"/>
            <a:ext cx="1835696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9410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52736"/>
          </a:xfrm>
        </p:spPr>
        <p:txBody>
          <a:bodyPr/>
          <a:lstStyle/>
          <a:p>
            <a:r>
              <a:rPr lang="pt-BR" u="sng" dirty="0"/>
              <a:t>Conjuntos Nebulosos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8" t="16174" r="12717" b="16870"/>
          <a:stretch/>
        </p:blipFill>
        <p:spPr bwMode="auto">
          <a:xfrm>
            <a:off x="0" y="1147236"/>
            <a:ext cx="8964488" cy="5522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9474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24744"/>
          </a:xfrm>
        </p:spPr>
        <p:txBody>
          <a:bodyPr/>
          <a:lstStyle/>
          <a:p>
            <a:r>
              <a:rPr lang="pt-BR" u="sng" dirty="0"/>
              <a:t>Conjuntos Nebulosos - definição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5" t="33566" r="14239" b="7477"/>
          <a:stretch/>
        </p:blipFill>
        <p:spPr bwMode="auto">
          <a:xfrm>
            <a:off x="-6627" y="1319436"/>
            <a:ext cx="9150627" cy="4794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816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08112"/>
          </a:xfrm>
        </p:spPr>
        <p:txBody>
          <a:bodyPr/>
          <a:lstStyle/>
          <a:p>
            <a:r>
              <a:rPr lang="pt-BR" u="sng" dirty="0"/>
              <a:t>Tipos de Inclusão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7" t="27826" r="13261" b="5913"/>
          <a:stretch/>
        </p:blipFill>
        <p:spPr bwMode="auto">
          <a:xfrm>
            <a:off x="32725" y="1196752"/>
            <a:ext cx="8880988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4604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80120"/>
          </a:xfrm>
        </p:spPr>
        <p:txBody>
          <a:bodyPr/>
          <a:lstStyle/>
          <a:p>
            <a:r>
              <a:rPr lang="pt-BR" u="sng" dirty="0"/>
              <a:t>Tipos de Inclusão ou Pertinência</a:t>
            </a:r>
            <a:endParaRPr lang="pt-BR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8" t="26609" r="7608" b="8000"/>
          <a:stretch/>
        </p:blipFill>
        <p:spPr bwMode="auto">
          <a:xfrm>
            <a:off x="3819" y="1268760"/>
            <a:ext cx="9106329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2252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/>
              <a:t>Não é probabilidade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2" t="28348" r="13805" b="9999"/>
          <a:stretch/>
        </p:blipFill>
        <p:spPr bwMode="auto">
          <a:xfrm>
            <a:off x="-1" y="1594768"/>
            <a:ext cx="9036497" cy="4935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6888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/>
              <a:t>Não é probabilidade</a:t>
            </a:r>
            <a:endParaRPr lang="pt-BR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0" t="27304" r="13804" b="10000"/>
          <a:stretch/>
        </p:blipFill>
        <p:spPr bwMode="auto">
          <a:xfrm>
            <a:off x="-1" y="1484784"/>
            <a:ext cx="8710469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7446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u="sng" dirty="0"/>
              <a:t>Representando conjuntos nebulosos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70" t="28000" r="9783" b="11653"/>
          <a:stretch/>
        </p:blipFill>
        <p:spPr bwMode="auto">
          <a:xfrm>
            <a:off x="251520" y="1628800"/>
            <a:ext cx="8454888" cy="4598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6803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5" y="2680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u="sng" dirty="0"/>
              <a:t>Representando Conjuntos Nebulosos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3588" y="6093296"/>
            <a:ext cx="8229600" cy="60466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Obs. O </a:t>
            </a:r>
            <a:r>
              <a:rPr lang="en-US" b="1" dirty="0" err="1"/>
              <a:t>Grau</a:t>
            </a:r>
            <a:r>
              <a:rPr lang="en-US" b="1" dirty="0"/>
              <a:t> de </a:t>
            </a:r>
            <a:r>
              <a:rPr lang="en-US" b="1" dirty="0" err="1"/>
              <a:t>pertinência</a:t>
            </a:r>
            <a:r>
              <a:rPr lang="en-US" b="1" dirty="0"/>
              <a:t> é </a:t>
            </a:r>
            <a:r>
              <a:rPr lang="en-US" b="1" dirty="0" err="1"/>
              <a:t>representado</a:t>
            </a:r>
            <a:r>
              <a:rPr lang="en-US" b="1" dirty="0"/>
              <a:t>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uma</a:t>
            </a:r>
            <a:r>
              <a:rPr lang="en-US" b="1" dirty="0"/>
              <a:t> </a:t>
            </a:r>
            <a:r>
              <a:rPr lang="en-US" b="1" dirty="0" err="1"/>
              <a:t>função</a:t>
            </a:r>
            <a:r>
              <a:rPr lang="en-US" b="1" dirty="0"/>
              <a:t> de </a:t>
            </a:r>
            <a:r>
              <a:rPr lang="en-US" b="1" dirty="0" err="1"/>
              <a:t>pertinência</a:t>
            </a:r>
            <a:r>
              <a:rPr lang="en-US" b="1" dirty="0"/>
              <a:t>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Função</a:t>
            </a:r>
            <a:r>
              <a:rPr lang="en-US" b="1" dirty="0"/>
              <a:t> de </a:t>
            </a:r>
            <a:r>
              <a:rPr lang="en-US" b="1" dirty="0" err="1"/>
              <a:t>Inclusão</a:t>
            </a:r>
            <a:r>
              <a:rPr lang="en-US" b="1" dirty="0"/>
              <a:t>.</a:t>
            </a:r>
            <a:endParaRPr lang="pt-BR" b="1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61" t="33739" r="14674" b="10000"/>
          <a:stretch/>
        </p:blipFill>
        <p:spPr bwMode="auto">
          <a:xfrm>
            <a:off x="395535" y="1412776"/>
            <a:ext cx="8481393" cy="4287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919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u="sng" dirty="0"/>
              <a:t>Representando Conjuntos Nebulosos</a:t>
            </a:r>
            <a:endParaRPr lang="pt-BR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96" t="15304" r="10761" b="19478"/>
          <a:stretch/>
        </p:blipFill>
        <p:spPr bwMode="auto">
          <a:xfrm>
            <a:off x="16644" y="1340768"/>
            <a:ext cx="8926636" cy="5157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1948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/>
              <a:t>Função Clássica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04" t="32349" r="7608" b="6956"/>
          <a:stretch/>
        </p:blipFill>
        <p:spPr bwMode="auto">
          <a:xfrm>
            <a:off x="251520" y="1531256"/>
            <a:ext cx="8666922" cy="4625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2351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/>
              <a:t>Função Linear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8" t="31999" r="11413" b="7479"/>
          <a:stretch/>
        </p:blipFill>
        <p:spPr bwMode="auto">
          <a:xfrm>
            <a:off x="179512" y="1628800"/>
            <a:ext cx="8568952" cy="4681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3463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pt-BR" u="sng" dirty="0"/>
              <a:t>Função Trapezoidal e Triangular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6" t="31130" r="9456" b="6261"/>
          <a:stretch/>
        </p:blipFill>
        <p:spPr bwMode="auto">
          <a:xfrm>
            <a:off x="30629" y="1340768"/>
            <a:ext cx="9060604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08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pt-BR" u="sng" dirty="0"/>
              <a:t>Função Trapezoidal e Triangular</a:t>
            </a:r>
            <a:endParaRPr lang="pt-BR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2" t="30609" r="14022" b="10000"/>
          <a:stretch/>
        </p:blipFill>
        <p:spPr bwMode="auto">
          <a:xfrm>
            <a:off x="4936" y="1556792"/>
            <a:ext cx="9078702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4585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/>
              <a:t>Função </a:t>
            </a:r>
            <a:r>
              <a:rPr lang="pt-BR" u="sng" dirty="0" err="1"/>
              <a:t>Sigmóide</a:t>
            </a:r>
            <a:endParaRPr lang="pt-BR" u="sng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95" t="31131" r="10109" b="6086"/>
          <a:stretch/>
        </p:blipFill>
        <p:spPr bwMode="auto">
          <a:xfrm>
            <a:off x="6626" y="1484784"/>
            <a:ext cx="8680174" cy="4784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9576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/>
              <a:t>Função </a:t>
            </a:r>
            <a:r>
              <a:rPr lang="pt-BR" u="sng" dirty="0" err="1"/>
              <a:t>Sigmóide</a:t>
            </a:r>
            <a:endParaRPr lang="pt-BR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2" t="32522" r="30870" b="6087"/>
          <a:stretch/>
        </p:blipFill>
        <p:spPr bwMode="auto">
          <a:xfrm>
            <a:off x="41514" y="1124744"/>
            <a:ext cx="8706950" cy="5639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64721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92088"/>
          </a:xfrm>
        </p:spPr>
        <p:txBody>
          <a:bodyPr/>
          <a:lstStyle/>
          <a:p>
            <a:r>
              <a:rPr lang="pt-BR" u="sng" dirty="0"/>
              <a:t>Exemplo de Conjuntos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764704"/>
            <a:ext cx="7992888" cy="6021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7236296" y="1268760"/>
            <a:ext cx="15841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C69B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Muito</a:t>
            </a:r>
            <a:r>
              <a:rPr lang="en-US" dirty="0">
                <a:solidFill>
                  <a:srgbClr val="2C69B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rgbClr val="2C69B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Quente</a:t>
            </a:r>
            <a:endParaRPr lang="pt-BR" dirty="0">
              <a:solidFill>
                <a:srgbClr val="2C69B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83302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850106"/>
          </a:xfrm>
        </p:spPr>
        <p:txBody>
          <a:bodyPr/>
          <a:lstStyle/>
          <a:p>
            <a:r>
              <a:rPr lang="pt-BR" u="sng" dirty="0"/>
              <a:t>Exemplo de Conjuntos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5" t="21912" r="13044" b="15478"/>
          <a:stretch/>
        </p:blipFill>
        <p:spPr bwMode="auto">
          <a:xfrm>
            <a:off x="26640" y="1052736"/>
            <a:ext cx="8594154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6660232" y="1475492"/>
            <a:ext cx="15841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C69B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Muito</a:t>
            </a:r>
            <a:r>
              <a:rPr lang="en-US" dirty="0">
                <a:solidFill>
                  <a:srgbClr val="2C69B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rgbClr val="2C69B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Quente</a:t>
            </a:r>
            <a:endParaRPr lang="pt-BR" dirty="0">
              <a:solidFill>
                <a:srgbClr val="2C69B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372459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78098"/>
          </a:xfrm>
        </p:spPr>
        <p:txBody>
          <a:bodyPr/>
          <a:lstStyle/>
          <a:p>
            <a:r>
              <a:rPr lang="pt-BR" u="sng" dirty="0"/>
              <a:t>Exemplo de Conjuntos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1" t="27408" r="20001" b="7652"/>
          <a:stretch/>
        </p:blipFill>
        <p:spPr bwMode="auto">
          <a:xfrm>
            <a:off x="323528" y="1265559"/>
            <a:ext cx="8424936" cy="5396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1582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D5EF58-02BB-86FE-E719-0EFD27959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591422" cy="18073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4100" b="1" dirty="0"/>
              <a:t>Estrutura de um Controlador </a:t>
            </a:r>
            <a:r>
              <a:rPr lang="pt-BR" sz="4100" b="1" dirty="0" err="1"/>
              <a:t>Fuzzy</a:t>
            </a:r>
            <a:endParaRPr lang="pt-BR" sz="41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784BEC-1A75-9FC7-0674-B487F3B7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33297"/>
            <a:ext cx="4040975" cy="384366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Um controlador </a:t>
            </a:r>
            <a:r>
              <a:rPr lang="pt-BR" sz="2000" dirty="0" err="1"/>
              <a:t>fuzzy</a:t>
            </a:r>
            <a:r>
              <a:rPr lang="pt-BR" sz="2000" dirty="0"/>
              <a:t> converte sinais físicos em decisões lógicas através de três etapas: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1. </a:t>
            </a:r>
            <a:r>
              <a:rPr lang="pt-BR" sz="2000" b="1" dirty="0" err="1"/>
              <a:t>Fuzzificação</a:t>
            </a:r>
            <a:r>
              <a:rPr lang="pt-BR" sz="2000" b="1" dirty="0"/>
              <a:t>:</a:t>
            </a:r>
            <a:r>
              <a:rPr lang="pt-BR" sz="2000" dirty="0"/>
              <a:t> Transforma valores físicos (como temperatura) em graus de pertinência em conjuntos </a:t>
            </a:r>
            <a:r>
              <a:rPr lang="pt-BR" sz="2000" dirty="0" err="1"/>
              <a:t>fuzzy</a:t>
            </a:r>
            <a:r>
              <a:rPr lang="pt-BR" sz="20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2. </a:t>
            </a:r>
            <a:r>
              <a:rPr lang="pt-BR" sz="2000" b="1" dirty="0"/>
              <a:t>Base de Regras (Inferência):</a:t>
            </a:r>
            <a:r>
              <a:rPr lang="pt-BR" sz="2000" dirty="0"/>
              <a:t> Aplica regras do tipo </a:t>
            </a:r>
            <a:r>
              <a:rPr lang="pt-BR" sz="2000" b="1" dirty="0"/>
              <a:t>IF-THEN</a:t>
            </a:r>
            <a:r>
              <a:rPr lang="pt-BR" sz="2000" dirty="0"/>
              <a:t> (SE-ENTÃO) baseadas no conhecimento de especialistas.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3. </a:t>
            </a:r>
            <a:r>
              <a:rPr lang="pt-BR" sz="2000" b="1" dirty="0" err="1"/>
              <a:t>Defuzzificação</a:t>
            </a:r>
            <a:r>
              <a:rPr lang="pt-BR" sz="2000" b="1" dirty="0"/>
              <a:t>:</a:t>
            </a:r>
            <a:r>
              <a:rPr lang="pt-BR" sz="2000" dirty="0"/>
              <a:t> Converte a decisão lógica de volta para um valor numérico que a máquina pode executar.</a:t>
            </a:r>
          </a:p>
          <a:p>
            <a:pPr marL="0" indent="0">
              <a:lnSpc>
                <a:spcPct val="90000"/>
              </a:lnSpc>
              <a:buNone/>
            </a:pPr>
            <a:endParaRPr lang="pt-BR" sz="1700" dirty="0"/>
          </a:p>
        </p:txBody>
      </p:sp>
      <p:pic>
        <p:nvPicPr>
          <p:cNvPr id="5" name="Picture 4" descr="Fórmulas químicas escritas em papel">
            <a:extLst>
              <a:ext uri="{FF2B5EF4-FFF2-40B4-BE49-F238E27FC236}">
                <a16:creationId xmlns:a16="http://schemas.microsoft.com/office/drawing/2014/main" id="{B67BB5AB-057E-984A-1164-7F0A1B4C78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32" r="31888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851363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14ACC0-F25C-BC06-0C20-931D8BC51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Vamos dar um 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6DAB64-F9DE-638D-FEF2-153867248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3212976"/>
            <a:ext cx="3604268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Como a </a:t>
            </a:r>
            <a:r>
              <a:rPr lang="en-US" sz="17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Lógica</a:t>
            </a: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Fuzzy </a:t>
            </a:r>
            <a:r>
              <a:rPr lang="en-US" sz="17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monitora</a:t>
            </a: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7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saúde</a:t>
            </a: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de um </a:t>
            </a:r>
            <a:r>
              <a:rPr lang="en-US" sz="17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astronauta</a:t>
            </a: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no </a:t>
            </a:r>
            <a:r>
              <a:rPr lang="en-US" sz="17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espaço</a:t>
            </a: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?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Astronauta">
            <a:extLst>
              <a:ext uri="{FF2B5EF4-FFF2-40B4-BE49-F238E27FC236}">
                <a16:creationId xmlns:a16="http://schemas.microsoft.com/office/drawing/2014/main" id="{E63E7E23-B38B-DF10-05E9-D9B2123EE9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754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Astronauta">
            <a:extLst>
              <a:ext uri="{FF2B5EF4-FFF2-40B4-BE49-F238E27FC236}">
                <a16:creationId xmlns:a16="http://schemas.microsoft.com/office/drawing/2014/main" id="{9165D51D-C532-774A-A8AE-D6CDA1DC09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C7350F-04B5-4894-48EA-5D10865D4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7321" y="1916832"/>
            <a:ext cx="3727145" cy="338437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tx2"/>
                </a:solidFill>
              </a:rPr>
              <a:t>A lógica </a:t>
            </a:r>
            <a:r>
              <a:rPr lang="pt-BR" sz="2400" dirty="0" err="1">
                <a:solidFill>
                  <a:schemeClr val="tx2"/>
                </a:solidFill>
              </a:rPr>
              <a:t>fuzzy</a:t>
            </a:r>
            <a:r>
              <a:rPr lang="pt-BR" sz="2400" dirty="0">
                <a:solidFill>
                  <a:schemeClr val="tx2"/>
                </a:solidFill>
              </a:rPr>
              <a:t> monitora a saúde dos astronautas por meio de </a:t>
            </a:r>
            <a:r>
              <a:rPr lang="pt-BR" sz="2400" b="1" dirty="0">
                <a:solidFill>
                  <a:schemeClr val="tx2"/>
                </a:solidFill>
              </a:rPr>
              <a:t>sistemas especialistas de diagnóstico</a:t>
            </a:r>
            <a:r>
              <a:rPr lang="pt-BR" sz="2400" dirty="0">
                <a:solidFill>
                  <a:schemeClr val="tx2"/>
                </a:solidFill>
              </a:rPr>
              <a:t> que analisam sinais vitais em busca de padrões pré-definidos. Em missões de exploração espacial, esse monitoramento é crucial tanto para cuidar do astronauta quanto para ajudar a equipe médica na Terra a decidir se uma missão deve continuar ou ser abortada devido a doenças graves.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709716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4907C5-C818-A23C-A2BE-A0A69D10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840" y="1741337"/>
            <a:ext cx="4086547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Componentes do Monitoramento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43336"/>
            <a:ext cx="3872284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52511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m rádio antigo e um despertador em uma mesa">
            <a:extLst>
              <a:ext uri="{FF2B5EF4-FFF2-40B4-BE49-F238E27FC236}">
                <a16:creationId xmlns:a16="http://schemas.microsoft.com/office/drawing/2014/main" id="{7FE666CC-B53C-2CC7-34FD-BFED9CE158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12" r="40094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E32A44-BECA-E263-09A3-9A56EE75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pt-BR" sz="3500" b="1"/>
              <a:t>Análise Multivariada</a:t>
            </a:r>
            <a:endParaRPr lang="pt-BR" sz="35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B71979-A317-C6DC-63A9-D283D91E6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700" dirty="0"/>
              <a:t>Enquanto sistemas convencionais apenas disparam alarmes se um sinal (como a temperatura) ultrapassa um limite fixo, a lógica </a:t>
            </a:r>
            <a:r>
              <a:rPr lang="pt-BR" sz="1700" dirty="0" err="1"/>
              <a:t>fuzzy</a:t>
            </a:r>
            <a:r>
              <a:rPr lang="pt-BR" sz="1700" dirty="0"/>
              <a:t> verifica a </a:t>
            </a:r>
            <a:r>
              <a:rPr lang="pt-BR" sz="1700" b="1" dirty="0"/>
              <a:t>combinação de múltiplos dados</a:t>
            </a:r>
            <a:r>
              <a:rPr lang="pt-BR" sz="1700" dirty="0"/>
              <a:t>. Ela utiliza sensores para monitorar simultaneamente a </a:t>
            </a:r>
            <a:r>
              <a:rPr lang="pt-BR" sz="1700" b="1" dirty="0"/>
              <a:t>temperatura corporal, a pressão arterial e a frequência cardíaca</a:t>
            </a:r>
            <a:r>
              <a:rPr lang="pt-BR" sz="1700" dirty="0"/>
              <a:t>.</a:t>
            </a:r>
          </a:p>
          <a:p>
            <a:pPr marL="0" indent="0">
              <a:buNone/>
            </a:pPr>
            <a:br>
              <a:rPr lang="pt-BR" sz="1700" dirty="0"/>
            </a:br>
            <a:endParaRPr lang="pt-BR" sz="1700" dirty="0"/>
          </a:p>
        </p:txBody>
      </p:sp>
    </p:spTree>
    <p:extLst>
      <p:ext uri="{BB962C8B-B14F-4D97-AF65-F5344CB8AC3E}">
        <p14:creationId xmlns:p14="http://schemas.microsoft.com/office/powerpoint/2010/main" val="45944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ma imagem de radiação eletromagnética">
            <a:extLst>
              <a:ext uri="{FF2B5EF4-FFF2-40B4-BE49-F238E27FC236}">
                <a16:creationId xmlns:a16="http://schemas.microsoft.com/office/drawing/2014/main" id="{65163363-2F24-4FE4-5841-CEDF443A7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735" r="29624" b="2"/>
          <a:stretch>
            <a:fillRect/>
          </a:stretch>
        </p:blipFill>
        <p:spPr>
          <a:xfrm>
            <a:off x="21" y="-2"/>
            <a:ext cx="3347844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45C00A-8A30-D218-FE26-4666AB7D8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968" y="546098"/>
            <a:ext cx="4098726" cy="1559301"/>
          </a:xfrm>
        </p:spPr>
        <p:txBody>
          <a:bodyPr>
            <a:normAutofit/>
          </a:bodyPr>
          <a:lstStyle/>
          <a:p>
            <a:r>
              <a:rPr lang="pt-BR" sz="3500" b="1" dirty="0"/>
              <a:t>Faixas de Pertinência</a:t>
            </a:r>
            <a:endParaRPr lang="pt-BR" sz="35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D1C6E8-0D3D-30C2-5D85-6939A4286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52" y="2743200"/>
            <a:ext cx="4752527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Cada sinal vital é classificado em categorias como "Baixo", "Normal" ou "Alto" através de </a:t>
            </a:r>
            <a:r>
              <a:rPr lang="pt-BR" sz="2000" b="1" dirty="0"/>
              <a:t>funções de pertinência</a:t>
            </a:r>
            <a:r>
              <a:rPr lang="pt-BR" sz="2000" dirty="0"/>
              <a:t>. Por exemplo, uma temperatura de 37°C pode ter um grau de pertinência em "Normal", enquanto 39°C pertence à categoria "Alto".</a:t>
            </a:r>
          </a:p>
        </p:txBody>
      </p:sp>
    </p:spTree>
    <p:extLst>
      <p:ext uri="{BB962C8B-B14F-4D97-AF65-F5344CB8AC3E}">
        <p14:creationId xmlns:p14="http://schemas.microsoft.com/office/powerpoint/2010/main" val="15318367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E40B83-7FA1-6E22-4C35-819A9D701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4720730" cy="1708242"/>
          </a:xfrm>
        </p:spPr>
        <p:txBody>
          <a:bodyPr anchor="ctr">
            <a:normAutofit/>
          </a:bodyPr>
          <a:lstStyle/>
          <a:p>
            <a:r>
              <a:rPr lang="pt-BR" sz="3500" b="1" dirty="0"/>
              <a:t>Base de Regras IF-THEN</a:t>
            </a:r>
            <a:endParaRPr lang="pt-BR" sz="35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7B5A46-0BF9-3062-B288-6B95E503D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2470244"/>
            <a:ext cx="4576714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O sistema avalia 27 cenários diferentes baseados em combinações desses sinais. Um exemplo de regra seria: "SE a temperatura é ALTA </a:t>
            </a:r>
            <a:r>
              <a:rPr lang="pt-BR" sz="2000" b="1" dirty="0"/>
              <a:t>E</a:t>
            </a:r>
            <a:r>
              <a:rPr lang="pt-BR" sz="2000" dirty="0"/>
              <a:t> a pressão é NORMAL </a:t>
            </a:r>
            <a:r>
              <a:rPr lang="pt-BR" sz="2000" b="1" dirty="0"/>
              <a:t>E</a:t>
            </a:r>
            <a:r>
              <a:rPr lang="pt-BR" sz="2000" dirty="0"/>
              <a:t> os batimentos são NORMAIS, ENTÃO o diagnóstico é FEBRE ALTA".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CC7D1-79D9-2FF9-907E-60B9FA0AEF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14" r="50823" b="-1"/>
          <a:stretch>
            <a:fillRect/>
          </a:stretch>
        </p:blipFill>
        <p:spPr>
          <a:xfrm>
            <a:off x="5868144" y="-10886"/>
            <a:ext cx="3275856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3434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62678B-72C8-8115-359C-08C84FF8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1" y="762001"/>
            <a:ext cx="3060272" cy="1708242"/>
          </a:xfrm>
        </p:spPr>
        <p:txBody>
          <a:bodyPr anchor="ctr">
            <a:normAutofit/>
          </a:bodyPr>
          <a:lstStyle/>
          <a:p>
            <a:r>
              <a:rPr lang="pt-BR" sz="3500" b="1"/>
              <a:t>Identificação de Condições Complexas</a:t>
            </a:r>
            <a:endParaRPr lang="pt-BR" sz="35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F14623-031E-EE29-7A01-1394E6F8D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2" y="2470244"/>
            <a:ext cx="3060271" cy="37698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700" dirty="0"/>
              <a:t>Ao combinar os dados, o sistema pode identificar estados de saúde específicos que seriam ignorados por sensores isolados, como:</a:t>
            </a:r>
          </a:p>
          <a:p>
            <a:pPr marL="0" indent="0">
              <a:buNone/>
            </a:pPr>
            <a:r>
              <a:rPr lang="pt-BR" sz="1700" dirty="0"/>
              <a:t>◦ </a:t>
            </a:r>
            <a:r>
              <a:rPr lang="pt-BR" sz="1700" b="1" dirty="0"/>
              <a:t>C26 (Hipertireoidismo):</a:t>
            </a:r>
            <a:r>
              <a:rPr lang="pt-BR" sz="1700" dirty="0"/>
              <a:t> Temperatura alta, pressão alta e batimentos rápidos.</a:t>
            </a:r>
          </a:p>
          <a:p>
            <a:pPr marL="0" indent="0">
              <a:buNone/>
            </a:pPr>
            <a:r>
              <a:rPr lang="pt-BR" sz="1700" dirty="0"/>
              <a:t>◦ </a:t>
            </a:r>
            <a:r>
              <a:rPr lang="pt-BR" sz="1700" b="1" dirty="0"/>
              <a:t>C20 (Insolação/Heat </a:t>
            </a:r>
            <a:r>
              <a:rPr lang="pt-BR" sz="1700" b="1"/>
              <a:t>Stroke</a:t>
            </a:r>
            <a:r>
              <a:rPr lang="pt-BR" sz="1700" b="1" dirty="0"/>
              <a:t>):</a:t>
            </a:r>
            <a:r>
              <a:rPr lang="pt-BR" sz="1700" dirty="0"/>
              <a:t> Temperatura alta, pressão baixa e batimentos normais.</a:t>
            </a:r>
          </a:p>
          <a:p>
            <a:pPr marL="0" indent="0">
              <a:buNone/>
            </a:pPr>
            <a:r>
              <a:rPr lang="pt-BR" sz="1700" dirty="0"/>
              <a:t>◦ </a:t>
            </a:r>
            <a:r>
              <a:rPr lang="pt-BR" sz="1700" b="1" dirty="0"/>
              <a:t>C4 (Hipotermia):</a:t>
            </a:r>
            <a:r>
              <a:rPr lang="pt-BR" sz="1700" dirty="0"/>
              <a:t> Temperatura corporal baixa.</a:t>
            </a:r>
          </a:p>
          <a:p>
            <a:pPr marL="0" indent="0">
              <a:buNone/>
            </a:pPr>
            <a:endParaRPr lang="pt-BR" sz="17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50" y="0"/>
            <a:ext cx="50863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nha indicadora ziguezague">
            <a:extLst>
              <a:ext uri="{FF2B5EF4-FFF2-40B4-BE49-F238E27FC236}">
                <a16:creationId xmlns:a16="http://schemas.microsoft.com/office/drawing/2014/main" id="{7D35BACB-D0C4-F751-C34C-E5F4BF049F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52" r="30198" b="-1"/>
          <a:stretch>
            <a:fillRect/>
          </a:stretch>
        </p:blipFill>
        <p:spPr>
          <a:xfrm>
            <a:off x="4780016" y="737488"/>
            <a:ext cx="3584615" cy="538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95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C61791-97C3-97CC-D7B1-870C72947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Essa abordagem permite um </a:t>
            </a:r>
            <a:r>
              <a:rPr lang="pt-BR" b="1" dirty="0"/>
              <a:t>diagnóstico precoce</a:t>
            </a:r>
            <a:r>
              <a:rPr lang="pt-BR" dirty="0"/>
              <a:t>, reduzindo o tempo de reação dos médicos e permitindo que a equipe prepare o equipamento de tratamento adequado antes mesmo da avaliação física humana.</a:t>
            </a:r>
          </a:p>
          <a:p>
            <a:r>
              <a:rPr lang="pt-BR" dirty="0"/>
              <a:t>Para entender melhor, imagine a lógica </a:t>
            </a:r>
            <a:r>
              <a:rPr lang="pt-BR" dirty="0" err="1"/>
              <a:t>fuzzy</a:t>
            </a:r>
            <a:r>
              <a:rPr lang="pt-BR" dirty="0"/>
              <a:t> como um </a:t>
            </a:r>
            <a:r>
              <a:rPr lang="pt-BR" b="1" dirty="0"/>
              <a:t>médico experiente</a:t>
            </a:r>
            <a:r>
              <a:rPr lang="pt-BR" dirty="0"/>
              <a:t> em vez de um termômetro digital: o termômetro apenas apita se você tiver febre, mas o médico percebe que sua febre, combinada com sua pressão baixa e pulso rápido, conta uma história muito mais específica sobre o que está acontecendo com seu corpo.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74579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EC0688-23B0-242B-71A8-4A8D51B92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647" y="2114482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O sistema de monitoramento de saúde descrito nos documentos baseia-se na combinação de três sinais vitais, cada um com três estados possíveis (</a:t>
            </a:r>
            <a:r>
              <a:rPr lang="pt-BR" sz="2100" b="1" dirty="0"/>
              <a:t>Baixo</a:t>
            </a:r>
            <a:r>
              <a:rPr lang="pt-BR" sz="2100" dirty="0"/>
              <a:t>, </a:t>
            </a:r>
            <a:r>
              <a:rPr lang="pt-BR" sz="2100" b="1" dirty="0"/>
              <a:t>Normal</a:t>
            </a:r>
            <a:r>
              <a:rPr lang="pt-BR" sz="2100" dirty="0"/>
              <a:t> e </a:t>
            </a:r>
            <a:r>
              <a:rPr lang="pt-BR" sz="2100" b="1" dirty="0"/>
              <a:t>Alto</a:t>
            </a:r>
            <a:r>
              <a:rPr lang="pt-BR" sz="2100" dirty="0"/>
              <a:t>), o que resulta em um total de </a:t>
            </a:r>
            <a:r>
              <a:rPr lang="pt-BR" sz="2100" b="1" dirty="0"/>
              <a:t>27 cenários (C0 a C26)</a:t>
            </a:r>
            <a:r>
              <a:rPr lang="pt-BR" sz="2100" dirty="0"/>
              <a:t>.</a:t>
            </a:r>
          </a:p>
          <a:p>
            <a:pPr marL="0" indent="0">
              <a:buNone/>
            </a:pPr>
            <a:r>
              <a:rPr lang="pt-BR" sz="2100" dirty="0"/>
              <a:t>Os sinais monitorados são a </a:t>
            </a:r>
            <a:r>
              <a:rPr lang="pt-BR" sz="2100" b="1" dirty="0"/>
              <a:t>temperatura corporal (</a:t>
            </a:r>
            <a:r>
              <a:rPr lang="pt-BR" sz="2100" i="1" dirty="0"/>
              <a:t>x</a:t>
            </a:r>
            <a:r>
              <a:rPr lang="pt-BR" sz="2100" dirty="0"/>
              <a:t>1​</a:t>
            </a:r>
            <a:r>
              <a:rPr lang="pt-BR" sz="2100" b="1" dirty="0"/>
              <a:t>)</a:t>
            </a:r>
            <a:r>
              <a:rPr lang="pt-BR" sz="2100" dirty="0"/>
              <a:t>, a </a:t>
            </a:r>
            <a:r>
              <a:rPr lang="pt-BR" sz="2100" b="1" dirty="0"/>
              <a:t>pressão sanguínea (</a:t>
            </a:r>
            <a:r>
              <a:rPr lang="pt-BR" sz="2100" i="1" dirty="0"/>
              <a:t>x</a:t>
            </a:r>
            <a:r>
              <a:rPr lang="pt-BR" sz="2100" dirty="0"/>
              <a:t>2​</a:t>
            </a:r>
            <a:r>
              <a:rPr lang="pt-BR" sz="2100" b="1" dirty="0"/>
              <a:t>)</a:t>
            </a:r>
            <a:r>
              <a:rPr lang="pt-BR" sz="2100" dirty="0"/>
              <a:t> (especificamente a pressão diastólica para simplificação) e a </a:t>
            </a:r>
            <a:r>
              <a:rPr lang="pt-BR" sz="2100" b="1" dirty="0"/>
              <a:t>frequência cardíaca (</a:t>
            </a:r>
            <a:r>
              <a:rPr lang="pt-BR" sz="2100" i="1" dirty="0"/>
              <a:t>x</a:t>
            </a:r>
            <a:r>
              <a:rPr lang="pt-BR" sz="2100" dirty="0"/>
              <a:t>3​</a:t>
            </a:r>
            <a:r>
              <a:rPr lang="pt-BR" sz="2100" b="1" dirty="0"/>
              <a:t>)</a:t>
            </a:r>
            <a:r>
              <a:rPr lang="pt-BR" sz="2100" dirty="0"/>
              <a:t>.</a:t>
            </a:r>
          </a:p>
          <a:p>
            <a:pPr marL="0" indent="0">
              <a:buNone/>
            </a:pPr>
            <a:endParaRPr lang="pt-BR" sz="2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Pulsação">
            <a:extLst>
              <a:ext uri="{FF2B5EF4-FFF2-40B4-BE49-F238E27FC236}">
                <a16:creationId xmlns:a16="http://schemas.microsoft.com/office/drawing/2014/main" id="{A573FB26-49BA-D4DD-E357-45AC9CC7CA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37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BB330-9B41-3184-89FD-D51F215C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100" dirty="0"/>
              <a:t>Aqui estão os dois conjuntos que no final totalizam 27 cenários identificados pelo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69792B-D7E6-B372-FE7B-70505E14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pt-BR" sz="2100" b="1"/>
              <a:t>Cenários de Condição Única (Principais)</a:t>
            </a:r>
          </a:p>
          <a:p>
            <a:r>
              <a:rPr lang="pt-BR" sz="2100" b="1"/>
              <a:t>Cenários de Combinação (Abordagem Multivariada)</a:t>
            </a:r>
            <a:endParaRPr lang="pt-BR" sz="2100"/>
          </a:p>
          <a:p>
            <a:pPr marL="0" indent="0">
              <a:buNone/>
            </a:pPr>
            <a:br>
              <a:rPr lang="pt-BR" sz="2100"/>
            </a:br>
            <a:endParaRPr lang="pt-BR" sz="21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aso de teste">
            <a:extLst>
              <a:ext uri="{FF2B5EF4-FFF2-40B4-BE49-F238E27FC236}">
                <a16:creationId xmlns:a16="http://schemas.microsoft.com/office/drawing/2014/main" id="{7443DF05-814B-3B7B-3ED6-824A042A1E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01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78E54-BB2D-EA70-F690-989C71037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7" y="687480"/>
            <a:ext cx="6552728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000" b="1" dirty="0"/>
              <a:t>Cenários de Condição Única (Principais)</a:t>
            </a:r>
            <a:endParaRPr lang="pt-BR" sz="3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6AB0AF-ECEE-D7FB-AECD-BFB4757C3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7" y="1681652"/>
            <a:ext cx="5688631" cy="448886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• </a:t>
            </a:r>
            <a:r>
              <a:rPr lang="pt-BR" sz="2000" b="1" dirty="0"/>
              <a:t>C0 (Condição Normal):</a:t>
            </a:r>
            <a:r>
              <a:rPr lang="pt-BR" sz="2000" dirty="0"/>
              <a:t> Temperatura Normal, Pressão Normal e Batimentos Normais.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• </a:t>
            </a:r>
            <a:r>
              <a:rPr lang="pt-BR" sz="2000" b="1" dirty="0"/>
              <a:t>C1 (Febre Alta):</a:t>
            </a:r>
            <a:r>
              <a:rPr lang="pt-BR" sz="2000" dirty="0"/>
              <a:t> Temperatura Alta, Pressão Normal e Batimentos Normais.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• </a:t>
            </a:r>
            <a:r>
              <a:rPr lang="pt-BR" sz="2000" b="1" dirty="0"/>
              <a:t>C2 (Hipertensão):</a:t>
            </a:r>
            <a:r>
              <a:rPr lang="pt-BR" sz="2000" dirty="0"/>
              <a:t> Temperatura Normal, Pressão Alta e Batimentos Normais.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• </a:t>
            </a:r>
            <a:r>
              <a:rPr lang="pt-BR" sz="2000" b="1" dirty="0"/>
              <a:t>C3 (Frequência Cardíaca Rápida):</a:t>
            </a:r>
            <a:r>
              <a:rPr lang="pt-BR" sz="2000" dirty="0"/>
              <a:t> Temperatura Normal, Pressão Normal e Batimentos Altos.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• </a:t>
            </a:r>
            <a:r>
              <a:rPr lang="pt-BR" sz="2000" b="1" dirty="0"/>
              <a:t>C4 (Hipotermia):</a:t>
            </a:r>
            <a:r>
              <a:rPr lang="pt-BR" sz="2000" dirty="0"/>
              <a:t> Temperatura Baixa, Pressão Normal e Batimentos Normais.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• </a:t>
            </a:r>
            <a:r>
              <a:rPr lang="pt-BR" sz="2000" b="1" dirty="0"/>
              <a:t>C5 (Pressão Baixa):</a:t>
            </a:r>
            <a:r>
              <a:rPr lang="pt-BR" sz="2000" dirty="0"/>
              <a:t> Temperatura Normal, Pressão Baixa e Batimentos Normais.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000" dirty="0"/>
              <a:t>• </a:t>
            </a:r>
            <a:r>
              <a:rPr lang="pt-BR" sz="2000" b="1" dirty="0"/>
              <a:t>C6 (Frequência Cardíaca Baixa):</a:t>
            </a:r>
            <a:r>
              <a:rPr lang="pt-BR" sz="2000" dirty="0"/>
              <a:t> Temperatura Normal, Pressão Normal e Batimentos Baixos.</a:t>
            </a:r>
          </a:p>
          <a:p>
            <a:pPr marL="0" indent="0">
              <a:lnSpc>
                <a:spcPct val="90000"/>
              </a:lnSpc>
              <a:buNone/>
            </a:pPr>
            <a:endParaRPr lang="pt-BR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Pulsação">
            <a:extLst>
              <a:ext uri="{FF2B5EF4-FFF2-40B4-BE49-F238E27FC236}">
                <a16:creationId xmlns:a16="http://schemas.microsoft.com/office/drawing/2014/main" id="{DFC1DA91-40AA-BF47-7D79-CB9E5148B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329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851EB80-A1C5-2ADA-3014-4CAF272F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841247"/>
            <a:ext cx="3888432" cy="53400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800" b="1" dirty="0">
                <a:solidFill>
                  <a:schemeClr val="bg1"/>
                </a:solidFill>
              </a:rPr>
              <a:t>Cenários de Combinação (Abordagem Multivariada)</a:t>
            </a:r>
            <a:br>
              <a:rPr lang="pt-BR" sz="2900" b="1" dirty="0">
                <a:solidFill>
                  <a:schemeClr val="bg1"/>
                </a:solidFill>
              </a:rPr>
            </a:br>
            <a:br>
              <a:rPr lang="pt-BR" sz="2900" dirty="0">
                <a:solidFill>
                  <a:schemeClr val="bg1"/>
                </a:solidFill>
              </a:rPr>
            </a:br>
            <a:r>
              <a:rPr lang="pt-BR" sz="2900" dirty="0">
                <a:solidFill>
                  <a:schemeClr val="bg1"/>
                </a:solidFill>
              </a:rPr>
              <a:t>O sistema utiliza as regras de </a:t>
            </a:r>
            <a:r>
              <a:rPr lang="pt-BR" sz="2900" b="1" dirty="0">
                <a:solidFill>
                  <a:schemeClr val="bg1"/>
                </a:solidFill>
              </a:rPr>
              <a:t>IF-THEN</a:t>
            </a:r>
            <a:r>
              <a:rPr lang="pt-BR" sz="2900" dirty="0">
                <a:solidFill>
                  <a:schemeClr val="bg1"/>
                </a:solidFill>
              </a:rPr>
              <a:t> para identificar diagnósticos baseados em combinações de leituras anormais</a:t>
            </a:r>
            <a:br>
              <a:rPr lang="pt-BR" sz="2900" dirty="0">
                <a:solidFill>
                  <a:schemeClr val="bg1"/>
                </a:solidFill>
              </a:rPr>
            </a:br>
            <a:endParaRPr lang="pt-BR" sz="2900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64E904-76A6-B171-9955-8A68D3648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306" y="476673"/>
            <a:ext cx="3972165" cy="604867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C7:</a:t>
            </a:r>
            <a:r>
              <a:rPr lang="pt-BR" sz="1800" dirty="0">
                <a:solidFill>
                  <a:schemeClr val="tx2"/>
                </a:solidFill>
              </a:rPr>
              <a:t> Temperatura Baixa, Pressão Baixa, Batimentos Baixos.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C8:</a:t>
            </a:r>
            <a:r>
              <a:rPr lang="pt-BR" sz="1800" dirty="0">
                <a:solidFill>
                  <a:schemeClr val="tx2"/>
                </a:solidFill>
              </a:rPr>
              <a:t> Temperatura Baixa, Pressão Baixa, Batimentos Normais.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C9:</a:t>
            </a:r>
            <a:r>
              <a:rPr lang="pt-BR" sz="1800" dirty="0">
                <a:solidFill>
                  <a:schemeClr val="tx2"/>
                </a:solidFill>
              </a:rPr>
              <a:t> Temperatura Baixa, Pressão Baixa, Batimentos Altos.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C10:</a:t>
            </a:r>
            <a:r>
              <a:rPr lang="pt-BR" sz="1800" dirty="0">
                <a:solidFill>
                  <a:schemeClr val="tx2"/>
                </a:solidFill>
              </a:rPr>
              <a:t> Temperatura Baixa, Pressão Normal, Batimentos Baixos.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C11:</a:t>
            </a:r>
            <a:r>
              <a:rPr lang="pt-BR" sz="1800" dirty="0">
                <a:solidFill>
                  <a:schemeClr val="tx2"/>
                </a:solidFill>
              </a:rPr>
              <a:t> Temperatura Baixa, Pressão Normal, Batimentos Altos.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C12:</a:t>
            </a:r>
            <a:r>
              <a:rPr lang="pt-BR" sz="1800" dirty="0">
                <a:solidFill>
                  <a:schemeClr val="tx2"/>
                </a:solidFill>
              </a:rPr>
              <a:t> Temperatura Baixa, Pressão Alta, Batimentos Baixos.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C13:</a:t>
            </a:r>
            <a:r>
              <a:rPr lang="pt-BR" sz="1800" dirty="0">
                <a:solidFill>
                  <a:schemeClr val="tx2"/>
                </a:solidFill>
              </a:rPr>
              <a:t> Temperatura Baixa, Pressão Alta, Batimentos Normais.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C14:</a:t>
            </a:r>
            <a:r>
              <a:rPr lang="pt-BR" sz="1800" dirty="0">
                <a:solidFill>
                  <a:schemeClr val="tx2"/>
                </a:solidFill>
              </a:rPr>
              <a:t> Temperatura Baixa, Pressão Alta, Batimentos Altos.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C15:</a:t>
            </a:r>
            <a:r>
              <a:rPr lang="pt-BR" sz="1800" dirty="0">
                <a:solidFill>
                  <a:schemeClr val="tx2"/>
                </a:solidFill>
              </a:rPr>
              <a:t> Temperatura Normal, Pressão Baixa, Batimentos Baixos.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C16:</a:t>
            </a:r>
            <a:r>
              <a:rPr lang="pt-BR" sz="1800" dirty="0">
                <a:solidFill>
                  <a:schemeClr val="tx2"/>
                </a:solidFill>
              </a:rPr>
              <a:t> Temperatura Normal, Pressão Baixa, Batimentos Altos.</a:t>
            </a:r>
          </a:p>
          <a:p>
            <a:pPr>
              <a:lnSpc>
                <a:spcPct val="90000"/>
              </a:lnSpc>
            </a:pPr>
            <a:endParaRPr lang="pt-BR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4680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767AD-EB73-6866-B328-1F180F003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3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0F7DC52-20B9-109D-E9C0-BA498B57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800" b="1" dirty="0">
                <a:solidFill>
                  <a:schemeClr val="bg1"/>
                </a:solidFill>
              </a:rPr>
              <a:t>Cenários de Combinação (Abordagem Multivariada)</a:t>
            </a:r>
            <a:br>
              <a:rPr lang="pt-BR" sz="2900" b="1" dirty="0">
                <a:solidFill>
                  <a:schemeClr val="bg1"/>
                </a:solidFill>
              </a:rPr>
            </a:br>
            <a:br>
              <a:rPr lang="pt-BR" sz="2900" dirty="0">
                <a:solidFill>
                  <a:schemeClr val="bg1"/>
                </a:solidFill>
              </a:rPr>
            </a:br>
            <a:r>
              <a:rPr lang="pt-BR" sz="2900" dirty="0">
                <a:solidFill>
                  <a:schemeClr val="bg1"/>
                </a:solidFill>
              </a:rPr>
              <a:t>O sistema utiliza as regras de </a:t>
            </a:r>
            <a:r>
              <a:rPr lang="pt-BR" sz="2900" b="1" dirty="0">
                <a:solidFill>
                  <a:schemeClr val="bg1"/>
                </a:solidFill>
              </a:rPr>
              <a:t>IF-THEN</a:t>
            </a:r>
            <a:r>
              <a:rPr lang="pt-BR" sz="2900" dirty="0">
                <a:solidFill>
                  <a:schemeClr val="bg1"/>
                </a:solidFill>
              </a:rPr>
              <a:t> para identificar diagnósticos baseados em combinações de leituras anormais</a:t>
            </a:r>
            <a:br>
              <a:rPr lang="pt-BR" sz="2900" dirty="0">
                <a:solidFill>
                  <a:schemeClr val="bg1"/>
                </a:solidFill>
              </a:rPr>
            </a:br>
            <a:endParaRPr lang="pt-BR" sz="2900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6FF497-6CDA-E29F-460C-A26868957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716" y="548681"/>
            <a:ext cx="4249780" cy="612068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C17:</a:t>
            </a:r>
            <a:r>
              <a:rPr lang="pt-BR" sz="1800" dirty="0">
                <a:solidFill>
                  <a:schemeClr val="tx2"/>
                </a:solidFill>
              </a:rPr>
              <a:t> Temperatura Normal, Pressão Alta, Batimentos Baixos.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C18:</a:t>
            </a:r>
            <a:r>
              <a:rPr lang="pt-BR" sz="1800" dirty="0">
                <a:solidFill>
                  <a:schemeClr val="tx2"/>
                </a:solidFill>
              </a:rPr>
              <a:t> Temperatura Normal, Pressão Alta, Batimentos Altos.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C19:</a:t>
            </a:r>
            <a:r>
              <a:rPr lang="pt-BR" sz="1800" dirty="0">
                <a:solidFill>
                  <a:schemeClr val="tx2"/>
                </a:solidFill>
              </a:rPr>
              <a:t> Temperatura Alta, Pressão Baixa, Batimentos Baixos.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C20 (Insolação / Heat </a:t>
            </a:r>
            <a:r>
              <a:rPr lang="pt-BR" sz="1800" b="1" dirty="0" err="1">
                <a:solidFill>
                  <a:schemeClr val="tx2"/>
                </a:solidFill>
              </a:rPr>
              <a:t>Stroke</a:t>
            </a:r>
            <a:r>
              <a:rPr lang="pt-BR" sz="1800" b="1" dirty="0">
                <a:solidFill>
                  <a:schemeClr val="tx2"/>
                </a:solidFill>
              </a:rPr>
              <a:t>):</a:t>
            </a:r>
            <a:r>
              <a:rPr lang="pt-BR" sz="1800" dirty="0">
                <a:solidFill>
                  <a:schemeClr val="tx2"/>
                </a:solidFill>
              </a:rPr>
              <a:t> Temperatura Alta, Pressão Baixa e Batimentos Normais.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C21:</a:t>
            </a:r>
            <a:r>
              <a:rPr lang="pt-BR" sz="1800" dirty="0">
                <a:solidFill>
                  <a:schemeClr val="tx2"/>
                </a:solidFill>
              </a:rPr>
              <a:t> Temperatura Alta, Pressão Baixa, Batimentos Altos.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C22:</a:t>
            </a:r>
            <a:r>
              <a:rPr lang="pt-BR" sz="1800" dirty="0">
                <a:solidFill>
                  <a:schemeClr val="tx2"/>
                </a:solidFill>
              </a:rPr>
              <a:t> Temperatura Alta, Pressão Normal, Batimentos Baixos.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C23:</a:t>
            </a:r>
            <a:r>
              <a:rPr lang="pt-BR" sz="1800" dirty="0">
                <a:solidFill>
                  <a:schemeClr val="tx2"/>
                </a:solidFill>
              </a:rPr>
              <a:t> Temperatura Alta, Pressão Normal, Batimentos Altos.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C24:</a:t>
            </a:r>
            <a:r>
              <a:rPr lang="pt-BR" sz="1800" dirty="0">
                <a:solidFill>
                  <a:schemeClr val="tx2"/>
                </a:solidFill>
              </a:rPr>
              <a:t> Temperatura Alta, Pressão Alta, Batimentos Baixos.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C25 (</a:t>
            </a:r>
            <a:r>
              <a:rPr lang="pt-BR" sz="1800" b="1" dirty="0" err="1">
                <a:solidFill>
                  <a:schemeClr val="tx2"/>
                </a:solidFill>
              </a:rPr>
              <a:t>Feocromocitoma</a:t>
            </a:r>
            <a:r>
              <a:rPr lang="pt-BR" sz="1800" b="1" dirty="0">
                <a:solidFill>
                  <a:schemeClr val="tx2"/>
                </a:solidFill>
              </a:rPr>
              <a:t>):</a:t>
            </a:r>
            <a:r>
              <a:rPr lang="pt-BR" sz="1800" dirty="0">
                <a:solidFill>
                  <a:schemeClr val="tx2"/>
                </a:solidFill>
              </a:rPr>
              <a:t> Temperatura Alta, Pressão Alta e Batimentos Normais.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tx2"/>
                </a:solidFill>
              </a:rPr>
              <a:t>• </a:t>
            </a:r>
            <a:r>
              <a:rPr lang="pt-BR" sz="1800" b="1" dirty="0">
                <a:solidFill>
                  <a:schemeClr val="tx2"/>
                </a:solidFill>
              </a:rPr>
              <a:t>C26 (Hipertireoidismo):</a:t>
            </a:r>
            <a:r>
              <a:rPr lang="pt-BR" sz="1800" dirty="0">
                <a:solidFill>
                  <a:schemeClr val="tx2"/>
                </a:solidFill>
              </a:rPr>
              <a:t> Temperatura Alta, Pressão Alta e Batimentos Altos.</a:t>
            </a:r>
          </a:p>
          <a:p>
            <a:endParaRPr lang="pt-BR" sz="1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6373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4EB5D-D741-47AD-B84B-E95A71172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Importância para Astronautas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3E0ED1-989B-560D-0EA6-983003439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Nas missões espaciais, este sistema funciona como um auxílio diagnóstico precoce. Ele permite que a equipe médica na Terra ou o médico a bordo decidam se uma missão deve continuar ou ser abortada, reduzindo o tempo de reação ao preparar o equipamento de tratamento adequado antes mesmo de um exame físico detalhado. </a:t>
            </a:r>
          </a:p>
          <a:p>
            <a:pPr marL="0" indent="0">
              <a:buNone/>
            </a:pPr>
            <a:r>
              <a:rPr lang="pt-BR" sz="1400" dirty="0"/>
              <a:t>Fonte: </a:t>
            </a:r>
            <a:r>
              <a:rPr lang="pt-BR" sz="1400" b="1" dirty="0"/>
              <a:t>"</a:t>
            </a:r>
            <a:r>
              <a:rPr lang="pt-BR" sz="1400" b="1" dirty="0" err="1"/>
              <a:t>Introduction</a:t>
            </a:r>
            <a:r>
              <a:rPr lang="pt-BR" sz="1400" b="1" dirty="0"/>
              <a:t> </a:t>
            </a:r>
            <a:r>
              <a:rPr lang="pt-BR" sz="1400" b="1" dirty="0" err="1"/>
              <a:t>to</a:t>
            </a:r>
            <a:r>
              <a:rPr lang="pt-BR" sz="1400" b="1" dirty="0"/>
              <a:t> </a:t>
            </a:r>
            <a:r>
              <a:rPr lang="pt-BR" sz="1400" b="1" dirty="0" err="1"/>
              <a:t>Fuzzy</a:t>
            </a:r>
            <a:r>
              <a:rPr lang="pt-BR" sz="1400" b="1" dirty="0"/>
              <a:t> Sets, </a:t>
            </a:r>
            <a:r>
              <a:rPr lang="pt-BR" sz="1400" b="1" dirty="0" err="1"/>
              <a:t>Fuzzy</a:t>
            </a:r>
            <a:r>
              <a:rPr lang="pt-BR" sz="1400" b="1" dirty="0"/>
              <a:t> </a:t>
            </a:r>
            <a:r>
              <a:rPr lang="pt-BR" sz="1400" b="1" dirty="0" err="1"/>
              <a:t>Logic</a:t>
            </a:r>
            <a:r>
              <a:rPr lang="pt-BR" sz="1400" b="1" dirty="0"/>
              <a:t>, </a:t>
            </a:r>
            <a:r>
              <a:rPr lang="pt-BR" sz="1400" b="1" dirty="0" err="1"/>
              <a:t>and</a:t>
            </a:r>
            <a:r>
              <a:rPr lang="pt-BR" sz="1400" b="1" dirty="0"/>
              <a:t> </a:t>
            </a:r>
            <a:r>
              <a:rPr lang="pt-BR" sz="1400" b="1" dirty="0" err="1"/>
              <a:t>Fuzzy</a:t>
            </a:r>
            <a:r>
              <a:rPr lang="pt-BR" sz="1400" b="1" dirty="0"/>
              <a:t> </a:t>
            </a:r>
            <a:r>
              <a:rPr lang="pt-BR" sz="1400" b="1" dirty="0" err="1"/>
              <a:t>Control</a:t>
            </a:r>
            <a:r>
              <a:rPr lang="pt-BR" sz="1400" b="1" dirty="0"/>
              <a:t> Systems"</a:t>
            </a:r>
            <a:r>
              <a:rPr lang="pt-BR" sz="1400" dirty="0"/>
              <a:t>. </a:t>
            </a:r>
            <a:r>
              <a:rPr lang="pt-BR" sz="1400" b="1" dirty="0" err="1"/>
              <a:t>Guanrong</a:t>
            </a:r>
            <a:r>
              <a:rPr lang="pt-BR" sz="1400" b="1" dirty="0"/>
              <a:t> Chen</a:t>
            </a:r>
            <a:r>
              <a:rPr lang="pt-BR" sz="1400" dirty="0"/>
              <a:t>, da Universidade de Houston, e </a:t>
            </a:r>
            <a:r>
              <a:rPr lang="pt-BR" sz="1400" b="1" dirty="0" err="1"/>
              <a:t>Trung</a:t>
            </a:r>
            <a:r>
              <a:rPr lang="pt-BR" sz="1400" b="1" dirty="0"/>
              <a:t> </a:t>
            </a:r>
            <a:r>
              <a:rPr lang="pt-BR" sz="1400" b="1" dirty="0" err="1"/>
              <a:t>Tat</a:t>
            </a:r>
            <a:r>
              <a:rPr lang="pt-BR" sz="1400" b="1" dirty="0"/>
              <a:t> </a:t>
            </a:r>
            <a:r>
              <a:rPr lang="pt-BR" sz="1400" b="1" dirty="0" err="1"/>
              <a:t>Pham</a:t>
            </a:r>
            <a:r>
              <a:rPr lang="pt-BR" sz="1400" dirty="0"/>
              <a:t>, da Universidade de Houston-</a:t>
            </a:r>
            <a:r>
              <a:rPr lang="pt-BR" sz="1400" dirty="0" err="1"/>
              <a:t>Clear</a:t>
            </a:r>
            <a:r>
              <a:rPr lang="pt-BR" sz="1400" dirty="0"/>
              <a:t> Lake.</a:t>
            </a:r>
          </a:p>
        </p:txBody>
      </p:sp>
    </p:spTree>
    <p:extLst>
      <p:ext uri="{BB962C8B-B14F-4D97-AF65-F5344CB8AC3E}">
        <p14:creationId xmlns:p14="http://schemas.microsoft.com/office/powerpoint/2010/main" val="40764773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2058</Words>
  <Application>Microsoft Macintosh PowerPoint</Application>
  <PresentationFormat>Apresentação na tela (4:3)</PresentationFormat>
  <Paragraphs>142</Paragraphs>
  <Slides>55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58" baseType="lpstr">
      <vt:lpstr>Arial</vt:lpstr>
      <vt:lpstr>Calibri</vt:lpstr>
      <vt:lpstr>Tema do Office</vt:lpstr>
      <vt:lpstr>Apresentação do PowerPoint</vt:lpstr>
      <vt:lpstr>O Que é a Lógica Fuzzy?</vt:lpstr>
      <vt:lpstr>Como surgiu a Teoria?</vt:lpstr>
      <vt:lpstr>Traduzindo o Pensamento Humano para as Máquinas</vt:lpstr>
      <vt:lpstr>Apresentação do PowerPoint</vt:lpstr>
      <vt:lpstr>Aplicações Práticas no Cotidiano</vt:lpstr>
      <vt:lpstr>Conjuntos Clássicos vs. Conjuntos Fuzzy</vt:lpstr>
      <vt:lpstr>Conjuntos Clássicos</vt:lpstr>
      <vt:lpstr>Conjuntos Clássicos</vt:lpstr>
      <vt:lpstr>Problemas/Conjuntos Clássicos</vt:lpstr>
      <vt:lpstr>Apresentação do PowerPoint</vt:lpstr>
      <vt:lpstr>Operações com conjuntos clássicos</vt:lpstr>
      <vt:lpstr>Tabelas Verdade</vt:lpstr>
      <vt:lpstr>Propriedades de Conjuntos Clássicos</vt:lpstr>
      <vt:lpstr>Propriedades de Conjuntos Clássicos</vt:lpstr>
      <vt:lpstr>Leis de Aristóteles</vt:lpstr>
      <vt:lpstr>Leis de Aristóteles</vt:lpstr>
      <vt:lpstr>A Variável Linguística – A Anatomia de um Conceito</vt:lpstr>
      <vt:lpstr>Raciocínio Aproximado e Linguagem</vt:lpstr>
      <vt:lpstr>Sintagmas e Significados</vt:lpstr>
      <vt:lpstr>A Função de Pertinência (μ)</vt:lpstr>
      <vt:lpstr>Inferência Nebulosa – Tomando Decisões</vt:lpstr>
      <vt:lpstr>Conjuntos Nebulosos</vt:lpstr>
      <vt:lpstr>Conjuntos Nebulosos - definição</vt:lpstr>
      <vt:lpstr>Tipos de Inclusão</vt:lpstr>
      <vt:lpstr>Tipos de Inclusão ou Pertinência</vt:lpstr>
      <vt:lpstr>Não é probabilidade</vt:lpstr>
      <vt:lpstr>Não é probabilidade</vt:lpstr>
      <vt:lpstr>Representando conjuntos nebulosos</vt:lpstr>
      <vt:lpstr>Representando Conjuntos Nebulosos</vt:lpstr>
      <vt:lpstr>Representando Conjuntos Nebulosos</vt:lpstr>
      <vt:lpstr>Função Clássica</vt:lpstr>
      <vt:lpstr>Função Linear</vt:lpstr>
      <vt:lpstr>Função Trapezoidal e Triangular</vt:lpstr>
      <vt:lpstr>Função Trapezoidal e Triangular</vt:lpstr>
      <vt:lpstr>Função Sigmóide</vt:lpstr>
      <vt:lpstr>Função Sigmóide</vt:lpstr>
      <vt:lpstr>Exemplo de Conjuntos</vt:lpstr>
      <vt:lpstr>Exemplo de Conjuntos</vt:lpstr>
      <vt:lpstr>Exemplo de Conjuntos</vt:lpstr>
      <vt:lpstr>Estrutura de um Controlador Fuzzy</vt:lpstr>
      <vt:lpstr>Vamos dar um Exemplo</vt:lpstr>
      <vt:lpstr>Apresentação do PowerPoint</vt:lpstr>
      <vt:lpstr>Componentes do Monitoramento</vt:lpstr>
      <vt:lpstr>Análise Multivariada</vt:lpstr>
      <vt:lpstr>Faixas de Pertinência</vt:lpstr>
      <vt:lpstr>Base de Regras IF-THEN</vt:lpstr>
      <vt:lpstr>Identificação de Condições Complexas</vt:lpstr>
      <vt:lpstr>Apresentação do PowerPoint</vt:lpstr>
      <vt:lpstr>Apresentação do PowerPoint</vt:lpstr>
      <vt:lpstr>Aqui estão os dois conjuntos que no final totalizam 27 cenários identificados pelo sistema</vt:lpstr>
      <vt:lpstr>Cenários de Condição Única (Principais)</vt:lpstr>
      <vt:lpstr>Cenários de Combinação (Abordagem Multivariada)  O sistema utiliza as regras de IF-THEN para identificar diagnósticos baseados em combinações de leituras anormais </vt:lpstr>
      <vt:lpstr>Cenários de Combinação (Abordagem Multivariada)  O sistema utiliza as regras de IF-THEN para identificar diagnósticos baseados em combinações de leituras anormais </vt:lpstr>
      <vt:lpstr>Importância para Astronautas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aos Conuntos Nebulosos</dc:title>
  <dc:creator>Wilian</dc:creator>
  <cp:lastModifiedBy>William Roberto Malvezzi</cp:lastModifiedBy>
  <cp:revision>26</cp:revision>
  <dcterms:created xsi:type="dcterms:W3CDTF">2010-08-16T00:07:13Z</dcterms:created>
  <dcterms:modified xsi:type="dcterms:W3CDTF">2026-06-01T13:43:02Z</dcterms:modified>
</cp:coreProperties>
</file>