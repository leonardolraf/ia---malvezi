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908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265615" y="3291840"/>
            <a:ext cx="4754880" cy="475488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assets/ven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55280" y="1463040"/>
            <a:ext cx="356616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FUZZY · INTELIGÊNCIA ARTIFICIAL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196596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 aos</a:t>
            </a:r>
            <a:endParaRPr lang="en-US" sz="50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Conjuntos Nebulosos</a:t>
            </a:r>
            <a:endParaRPr lang="en-US" sz="5000" dirty="0"/>
          </a:p>
        </p:txBody>
      </p:sp>
      <p:sp>
        <p:nvSpPr>
          <p:cNvPr id="7" name="Shape 4"/>
          <p:cNvSpPr/>
          <p:nvPr/>
        </p:nvSpPr>
        <p:spPr>
          <a:xfrm>
            <a:off x="841248" y="4160520"/>
            <a:ext cx="201168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raciocínio humano às máquinas que entendem o impreciso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William Malvezzi</a:t>
            </a:r>
            <a:r>
              <a:rPr lang="en-US" sz="1400" dirty="0">
                <a:solidFill>
                  <a:srgbClr val="9F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Universidade Católica de Brasília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 hoje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3101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82296" cy="1783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051560" y="213055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227685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56232" y="2148840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Clássico × Fuzzy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88136" y="2898648"/>
            <a:ext cx="2688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lógica binária não basta para o mundo real.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3101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343400" y="1874520"/>
            <a:ext cx="82296" cy="1783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617720" y="213055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27685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2392" y="2148840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Pertinência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654296" y="2898648"/>
            <a:ext cx="2688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grau μ(x) e as funções que o descrevem.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909560" y="1874520"/>
            <a:ext cx="33101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7909560" y="1874520"/>
            <a:ext cx="82296" cy="1783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8183880" y="213055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2276856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88552" y="2148840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linguísticas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220456" y="2898648"/>
            <a:ext cx="2688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traduzir palavras em matemática.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77240" y="3931920"/>
            <a:ext cx="33101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777240" y="3931920"/>
            <a:ext cx="82296" cy="1783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1051560" y="418795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864" y="4334256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856232" y="4206240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Inferência &amp; controle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1088136" y="4956048"/>
            <a:ext cx="2688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SE-ENTÃO e o controlador fuzzy.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4343400" y="3931920"/>
            <a:ext cx="33101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3"/>
          <p:cNvSpPr/>
          <p:nvPr/>
        </p:nvSpPr>
        <p:spPr>
          <a:xfrm>
            <a:off x="4343400" y="3931920"/>
            <a:ext cx="82296" cy="1783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4"/>
          <p:cNvSpPr/>
          <p:nvPr/>
        </p:nvSpPr>
        <p:spPr>
          <a:xfrm>
            <a:off x="4617720" y="418795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4024" y="4334256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22392" y="4206240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Operações &amp; propriedades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4654296" y="4956048"/>
            <a:ext cx="2688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União, interseção, complemento e suas leis.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7909560" y="3931920"/>
            <a:ext cx="33101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28"/>
          <p:cNvSpPr/>
          <p:nvPr/>
        </p:nvSpPr>
        <p:spPr>
          <a:xfrm>
            <a:off x="7909560" y="3931920"/>
            <a:ext cx="82296" cy="1783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29"/>
          <p:cNvSpPr/>
          <p:nvPr/>
        </p:nvSpPr>
        <p:spPr>
          <a:xfrm>
            <a:off x="8183880" y="418795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0184" y="4334256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988552" y="4206240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real</a:t>
            </a:r>
            <a:endParaRPr lang="en-US" sz="1550" dirty="0"/>
          </a:p>
        </p:txBody>
      </p:sp>
      <p:sp>
        <p:nvSpPr>
          <p:cNvPr id="39" name="Text 31"/>
          <p:cNvSpPr/>
          <p:nvPr/>
        </p:nvSpPr>
        <p:spPr>
          <a:xfrm>
            <a:off x="8220456" y="4956048"/>
            <a:ext cx="2688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a saúde de um astronauta no espaço.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180015" y="3108960"/>
            <a:ext cx="3657600" cy="365760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6868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324612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 Lógica Fuzzy?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9448495" y="114300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15544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Raciocínio humano, não apenas 0 ou 1</a:t>
            </a:r>
            <a:endParaRPr lang="en-US" sz="3100" dirty="0"/>
          </a:p>
        </p:txBody>
      </p:sp>
      <p:pic>
        <p:nvPicPr>
          <p:cNvPr id="4" name="Image 0" descr="assets/contemplat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120" y="1783080"/>
            <a:ext cx="365760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8288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lógica fuzzy estuda os métodos e princípios do raciocínio humano aproximado.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77240" y="2889504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216152" y="27889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clássica (binária)  </a:t>
            </a:r>
            <a:r>
              <a:rPr lang="en-US" sz="14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proposição é totalmente verdadeira (1) ou totalmente falsa (0). Sem meio-termo.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7240" y="3913632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216152" y="3813048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fuzzy  </a:t>
            </a:r>
            <a:r>
              <a:rPr lang="en-US" sz="14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Admite valores de verdade parciais — algo pode ser 0,7 verdadeiro.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937760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216152" y="4837176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  </a:t>
            </a:r>
            <a:r>
              <a:rPr lang="en-US" sz="14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raciocinar com proposições imprecisas, como fazem as pessoas.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ORIGENS · 1965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2194560" y="1645920"/>
            <a:ext cx="8595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i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medida que a complexidade de um sistema aumenta, nossa capacidade de fazer afirmações precisas sobre ele diminui — até um limite em que precisão e relevância tornam-se quase mutuamente exclusivas.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40280" y="4297680"/>
            <a:ext cx="146304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4028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Lotfi A. Zadeh</a:t>
            </a:r>
            <a:r>
              <a:rPr lang="en-US" sz="15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criador da Teoria dos Conjuntos Fuzzy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40280" y="5166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complexo o mundo, mais úteis são as descrições aproximadas — esse é o paradoxo que a lógica fuzzy resolve.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 IDEIA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Traduzir o pensamento humano para as máquinas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da computação tradicional, baseada em números exatos, a lógica nebulosa sistematiza o uso de palavras e sentenças.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3154680"/>
            <a:ext cx="5852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3154680"/>
            <a:ext cx="82296" cy="13716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051560" y="341071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355701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56232" y="342900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“atrevimento” da lógica fuzzy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88136" y="4178808"/>
            <a:ext cx="5230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tenta representar as intuições de quem fala — o sentido por trás das palavras, não só o dado bruto.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95160" y="1920240"/>
            <a:ext cx="4434840" cy="2606040"/>
          </a:xfrm>
          <a:prstGeom prst="rect">
            <a:avLst/>
          </a:prstGeom>
          <a:solidFill>
            <a:srgbClr val="0A2E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995160" y="1920240"/>
            <a:ext cx="4434840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178040" y="1993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69480" y="26517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alguém diz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“está fazendo calor”</a:t>
            </a:r>
            <a:r>
              <a:rPr lang="en-US" sz="15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lógica fuzzy não procura um número exato como 32,5 °C.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26948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captura o sentido daquela afirmação — o contexto de um lugar quente.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4892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máquinas que processam linguagem do jeito que pensamos.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lógica fuzzy já está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341985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3419856" cy="1417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984248" y="2423160"/>
            <a:ext cx="1005840" cy="1005840"/>
          </a:xfrm>
          <a:prstGeom prst="ellipse">
            <a:avLst/>
          </a:prstGeom>
          <a:solidFill>
            <a:srgbClr val="FFFFFF">
              <a:alpha val="8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633472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61188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Câmeras fotográficas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69848" y="42062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do foco automático e detecção de bordas para imagens nítidas.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79976" y="2011680"/>
            <a:ext cx="341985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379976" y="2011680"/>
            <a:ext cx="3419856" cy="141732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586984" y="2423160"/>
            <a:ext cx="1005840" cy="1005840"/>
          </a:xfrm>
          <a:prstGeom prst="ellipse">
            <a:avLst/>
          </a:prstGeom>
          <a:solidFill>
            <a:srgbClr val="FFFFFF">
              <a:alpha val="8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2633472"/>
            <a:ext cx="585216" cy="5852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2856" y="361188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Saúde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72584" y="42062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 sinais vitais e sinalizam hipotermia, hipertensão e outras condições.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982712" y="2011680"/>
            <a:ext cx="341985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7982712" y="2011680"/>
            <a:ext cx="3419856" cy="14173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9189720" y="2423160"/>
            <a:ext cx="1005840" cy="1005840"/>
          </a:xfrm>
          <a:prstGeom prst="ellipse">
            <a:avLst/>
          </a:prstGeom>
          <a:solidFill>
            <a:srgbClr val="FFFFFF">
              <a:alpha val="8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2" y="2633472"/>
            <a:ext cx="585216" cy="5852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65592" y="361188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Robótica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275320" y="42062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manipuladores com movimentos complexos e não-lineares.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180015" y="3108960"/>
            <a:ext cx="3657600" cy="365760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6868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DOS CONJUNTOS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324612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Clássicos vs. Nebulosos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9448495" y="114300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15544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 CENTRAL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Pertencer: “sim/não” ou “em que grau?”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074920" cy="2743200"/>
          </a:xfrm>
          <a:prstGeom prst="rect">
            <a:avLst/>
          </a:prstGeom>
          <a:solidFill>
            <a:srgbClr val="F4F8F9"/>
          </a:solidFill>
          <a:ln w="12700">
            <a:solidFill>
              <a:srgbClr val="D8E4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074920" cy="640080"/>
          </a:xfrm>
          <a:prstGeom prst="rect">
            <a:avLst/>
          </a:prstGeom>
          <a:solidFill>
            <a:srgbClr val="5B6B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CLÁSSICO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8346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nítida. </a:t>
            </a:r>
            <a:r>
              <a:rPr lang="en-US" sz="15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elemento pertence (1) ou não pertence (0). Não há intermediários.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8862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1,80 m → alto = sim. 1,79 m → alto = não.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1965960"/>
            <a:ext cx="50749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00800" y="1965960"/>
            <a:ext cx="507492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0" y="208483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FUZZY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Pertinência parcial. </a:t>
            </a:r>
            <a:r>
              <a:rPr lang="en-US" sz="15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elemento pertence com um grau entre 0 e 1.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0" y="38862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1,79 m → “alto” com grau 0,85. Quase tão alto quanto 1,80 m.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4983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teoria fuzzy é uma generalização natural e rigorosa da matemática clássica para o mundo impreciso.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CLÁSSICOS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Universo de discurso e função característica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de discurso (U)</a:t>
            </a:r>
            <a:r>
              <a:rPr lang="en-US" sz="15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 espaço de todos os elementos possíveis sob análise.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 </a:t>
            </a: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alturas humanas (0–2,5 m); temperatura ambiente (−70 a 70 °C).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3474720"/>
            <a:ext cx="57607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77240" y="3474720"/>
            <a:ext cx="82296" cy="1783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051560" y="373075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387705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56232" y="374904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 característica χ(x)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88136" y="4498848"/>
            <a:ext cx="5138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clássico ela só devolve 1 (pertence) ou 0 (não pertence). Repare no degrau abrupto no gráfico — não existe transição.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12280" y="1874520"/>
            <a:ext cx="4617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3" name="Image 1" descr="assets/classic_ste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95160" y="2057400"/>
            <a:ext cx="4251960" cy="3017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2E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DOS CLÁSSICOS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paradoxo do monte de areia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76F51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402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192024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i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“Quando um monte de areia deixa de ser um monte, se retirarmos um grão de cada vez?”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68680" y="3520440"/>
            <a:ext cx="104698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868680" y="3520440"/>
            <a:ext cx="73152" cy="768096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097280" y="3520440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limiar é arbitrário  —  </a:t>
            </a: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binária exige uma fronteira exata, mas qualquer número escolhido é artificial.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" y="4398264"/>
            <a:ext cx="104698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868680" y="4398264"/>
            <a:ext cx="73152" cy="768096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097280" y="4398264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realidade é gradual  —  </a:t>
            </a: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“Monte” some aos poucos — a transição suave que o degrau clássico não captura.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68680" y="5276088"/>
            <a:ext cx="104698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868680" y="5276088"/>
            <a:ext cx="73152" cy="768096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1097280" y="5276088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Eubulides de Mileto  —  </a:t>
            </a: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paradoxo expõe o limite da lógica de dois valores.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okin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3D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822960" y="1325880"/>
            <a:ext cx="6766560" cy="4206240"/>
          </a:xfrm>
          <a:prstGeom prst="rect">
            <a:avLst/>
          </a:prstGeom>
          <a:solidFill>
            <a:srgbClr val="0A2E3D">
              <a:alpha val="8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14300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43000" y="205740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lógica fuzzy é como um chef experiente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143000" y="320040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E8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não mede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“5,23 g de sal”</a:t>
            </a:r>
            <a:r>
              <a:rPr lang="en-US" sz="1700" dirty="0">
                <a:solidFill>
                  <a:srgbClr val="E8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(lógica clássica). Usa uma </a:t>
            </a: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“pitada generosa”</a:t>
            </a:r>
            <a:r>
              <a:rPr lang="en-US" sz="1700" dirty="0">
                <a:solidFill>
                  <a:srgbClr val="E8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(variável linguística). Se está </a:t>
            </a: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“muito insosso”</a:t>
            </a:r>
            <a:r>
              <a:rPr lang="en-US" sz="1700" dirty="0">
                <a:solidFill>
                  <a:srgbClr val="E8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(modificador), adiciona sal até o </a:t>
            </a: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“ponto”</a:t>
            </a:r>
            <a:r>
              <a:rPr lang="en-US" sz="1700" dirty="0">
                <a:solidFill>
                  <a:srgbClr val="E8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(inferência).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43000" y="49377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fuzzy permite que o computador finalmente entenda o que é “no ponto”.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COM CONJUNTOS CLÁSSICOS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operações fundamentais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033272" y="2221992"/>
            <a:ext cx="868680" cy="8686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4505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União  (A U B)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103120" y="26883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que estão em A ou em B.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92024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428232" y="2221992"/>
            <a:ext cx="868680" cy="8686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45059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Interseção  (A ∩ B)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98080" y="26883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que estão em A e em B.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77240" y="365760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1033272" y="3959352"/>
            <a:ext cx="868680" cy="8686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418795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0312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Complemento  (Ā)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103120" y="44256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está fora de A.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172200" y="365760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428232" y="3959352"/>
            <a:ext cx="868680" cy="8686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418795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Diferença  (A − B)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98080" y="44256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A, mas não em B.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TABELA-VERDADE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operações como tabela-verdade</a:t>
            </a:r>
            <a:endParaRPr lang="en-US" sz="3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5852160" cy="2651760"/>
        </p:xfrm>
        <a:graphic>
          <a:graphicData uri="http://schemas.openxmlformats.org/drawingml/2006/table">
            <a:tbl>
              <a:tblPr/>
              <a:tblGrid>
                <a:gridCol w="1170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∨ 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∧ 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x̄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544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2011680"/>
            <a:ext cx="4389120" cy="2743200"/>
          </a:xfrm>
          <a:prstGeom prst="rect">
            <a:avLst/>
          </a:prstGeom>
          <a:solidFill>
            <a:srgbClr val="0A2E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7269480" y="2240280"/>
            <a:ext cx="777240" cy="777240"/>
          </a:xfrm>
          <a:prstGeom prst="ellipse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45059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388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PENSAR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315200" y="31546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funções matemáticas poderiam representar união, interseção e complemento de forma contínua — e não apenas em 0 e 1?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77240" y="49834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a pergunta: a teoria fuzzy responde com máximo, mínimo e (1 − μ).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DOS CONJUNTOS CLÁSSICOS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leis que governam as operações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5120640" cy="1097280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73152" cy="10972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51560" y="20299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Comutatividade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51560" y="2441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∪ B = B ∪ 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120640" cy="1097280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73152" cy="10972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46520" y="20299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Associatividade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441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∪ (B ∪ C) = (A ∪ B) ∪ 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172968"/>
            <a:ext cx="5120640" cy="1097280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77240" y="3172968"/>
            <a:ext cx="73152" cy="10972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51560" y="33284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Distributividade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51560" y="37398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∪ (B ∩ C) = (A∪B) ∩ (A∪C)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3172968"/>
            <a:ext cx="5120640" cy="1097280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172200" y="3172968"/>
            <a:ext cx="73152" cy="10972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46520" y="33284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Idempotência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37398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∪ A = 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4471416"/>
            <a:ext cx="5120640" cy="1097280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77240" y="4471416"/>
            <a:ext cx="73152" cy="10972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051560" y="46268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51560" y="50383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∪ ∅ = A     ·     A ∪ X = X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72200" y="4471416"/>
            <a:ext cx="5120640" cy="1097280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172200" y="4471416"/>
            <a:ext cx="73152" cy="10972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46268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Morgan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46520" y="50383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∩ B = Ā ∪ B̄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 DE ARISTÓTELES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pilares da lógica clássica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0749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5156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Exclusão do meio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51560" y="2670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“Tudo deve ser ou não ser.”</a:t>
            </a:r>
            <a:endParaRPr lang="en-US" sz="1500" dirty="0"/>
          </a:p>
        </p:txBody>
      </p:sp>
      <p:pic>
        <p:nvPicPr>
          <p:cNvPr id="7" name="Image 0" descr="assets/f_exclu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63040" y="3246120"/>
            <a:ext cx="3657600" cy="960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4389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união de um conjunto com seu complemento forma o Universo.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55080" y="1965960"/>
            <a:ext cx="50749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62940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Não-contradição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629400" y="2670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não pode ser e não ser ao mesmo tempo.</a:t>
            </a:r>
            <a:endParaRPr lang="en-US" sz="1500" dirty="0"/>
          </a:p>
        </p:txBody>
      </p:sp>
      <p:pic>
        <p:nvPicPr>
          <p:cNvPr id="12" name="Image 1" descr="assets/f_noncontr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40880" y="3246120"/>
            <a:ext cx="3657600" cy="9601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9400" y="4389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interseção de um conjunto com seu complemento é vazia.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77240" y="53492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Spoiler: na lógica fuzzy, essas duas leis deixam de valer — e é isso que a torna poderosa.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180015" y="3108960"/>
            <a:ext cx="3657600" cy="365760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6868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E PERTINÊNCIA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324612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Linguísticas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9448495" y="114300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15544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ANATOMIA DE UM CONCEITO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variável linguística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Formalmente, uma quíntupla: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760720" cy="777240"/>
          </a:xfrm>
          <a:prstGeom prst="rect">
            <a:avLst/>
          </a:prstGeom>
          <a:solidFill>
            <a:srgbClr val="F4F8F9"/>
          </a:solidFill>
          <a:ln w="12700">
            <a:solidFill>
              <a:srgbClr val="D8E4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assets/f_quintupl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2286000"/>
            <a:ext cx="530352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3246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32461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variável (ex.: Idade)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772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T(x)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63040" y="3840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/ termos (ex.: Jovem, Velho)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" y="44348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7772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463040" y="4434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de discurso (ex.: 0 a 100 anos)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77240" y="5029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7772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463040" y="5029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sintáticas para gerar frases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7240" y="5623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77724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63040" y="5623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semânticas → funções de pertinência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858000" y="2194560"/>
            <a:ext cx="4572000" cy="3108960"/>
          </a:xfrm>
          <a:prstGeom prst="rect">
            <a:avLst/>
          </a:prstGeom>
          <a:solidFill>
            <a:srgbClr val="0A2E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7086600" y="2423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VELOCIDADE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086600" y="2834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valores não são números como “80 km/h”, mas termos: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086600" y="3611880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7269480" y="36118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Devagar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7086600" y="4142232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7269480" y="41422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7086600" y="4672584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7269480" y="467258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Rápido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APROXIMADO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palavras que as máquinas passam a entender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120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051560" y="2194560"/>
            <a:ext cx="685800" cy="68580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3591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128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Predicados fuzzy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97280" y="3017520"/>
            <a:ext cx="2148840" cy="411480"/>
          </a:xfrm>
          <a:prstGeom prst="roundRect">
            <a:avLst>
              <a:gd name="adj" fmla="val 11111"/>
            </a:avLst>
          </a:prstGeom>
          <a:solidFill>
            <a:srgbClr val="F4F8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097280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“velho”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29000" y="3017520"/>
            <a:ext cx="2148840" cy="411480"/>
          </a:xfrm>
          <a:prstGeom prst="roundRect">
            <a:avLst>
              <a:gd name="adj" fmla="val 11111"/>
            </a:avLst>
          </a:prstGeom>
          <a:solidFill>
            <a:srgbClr val="F4F8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429000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“raro”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97280" y="3520440"/>
            <a:ext cx="2148840" cy="411480"/>
          </a:xfrm>
          <a:prstGeom prst="roundRect">
            <a:avLst>
              <a:gd name="adj" fmla="val 11111"/>
            </a:avLst>
          </a:prstGeom>
          <a:solidFill>
            <a:srgbClr val="F4F8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097280" y="3520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“caro”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429000" y="3520440"/>
            <a:ext cx="2148840" cy="411480"/>
          </a:xfrm>
          <a:prstGeom prst="roundRect">
            <a:avLst>
              <a:gd name="adj" fmla="val 11111"/>
            </a:avLst>
          </a:prstGeom>
          <a:solidFill>
            <a:srgbClr val="F4F8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3429000" y="3520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“rápido”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72200" y="1920240"/>
            <a:ext cx="5120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6446520" y="2194560"/>
            <a:ext cx="685800" cy="68580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359152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0" y="22128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Quantificadores fuzzy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6492240" y="3017520"/>
            <a:ext cx="2148840" cy="411480"/>
          </a:xfrm>
          <a:prstGeom prst="roundRect">
            <a:avLst>
              <a:gd name="adj" fmla="val 11111"/>
            </a:avLst>
          </a:prstGeom>
          <a:solidFill>
            <a:srgbClr val="F4F8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6492240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“muitos”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823960" y="3017520"/>
            <a:ext cx="2148840" cy="411480"/>
          </a:xfrm>
          <a:prstGeom prst="roundRect">
            <a:avLst>
              <a:gd name="adj" fmla="val 11111"/>
            </a:avLst>
          </a:prstGeom>
          <a:solidFill>
            <a:srgbClr val="F4F8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/>
          <p:nvPr/>
        </p:nvSpPr>
        <p:spPr>
          <a:xfrm>
            <a:off x="8823960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“poucos”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492240" y="3520440"/>
            <a:ext cx="2148840" cy="411480"/>
          </a:xfrm>
          <a:prstGeom prst="roundRect">
            <a:avLst>
              <a:gd name="adj" fmla="val 11111"/>
            </a:avLst>
          </a:prstGeom>
          <a:solidFill>
            <a:srgbClr val="F4F8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/>
          <p:nvPr/>
        </p:nvSpPr>
        <p:spPr>
          <a:xfrm>
            <a:off x="6492240" y="3520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“geralmente”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823960" y="3520440"/>
            <a:ext cx="2148840" cy="411480"/>
          </a:xfrm>
          <a:prstGeom prst="roundRect">
            <a:avLst>
              <a:gd name="adj" fmla="val 11111"/>
            </a:avLst>
          </a:prstGeom>
          <a:solidFill>
            <a:srgbClr val="F4F8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3"/>
          <p:cNvSpPr/>
          <p:nvPr/>
        </p:nvSpPr>
        <p:spPr>
          <a:xfrm>
            <a:off x="8823960" y="3520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“quase”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777240" y="4114800"/>
            <a:ext cx="10652760" cy="1371600"/>
          </a:xfrm>
          <a:prstGeom prst="rect">
            <a:avLst/>
          </a:prstGeom>
          <a:solidFill>
            <a:srgbClr val="0A2E3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526280"/>
            <a:ext cx="548640" cy="5486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828800" y="429768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máquina processa instruções como “Se a temperatura estiver muito alta, então esfrie rapidamente.”</a:t>
            </a:r>
            <a:endParaRPr lang="en-US" sz="1700" dirty="0"/>
          </a:p>
        </p:txBody>
      </p:sp>
      <p:sp>
        <p:nvSpPr>
          <p:cNvPr id="31" name="Text 26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SINTAGMAS E OPERADORES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Combinando termos com lógica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5120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82296" cy="1371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051560" y="213055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227685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56232" y="214884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sintagma?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69848" y="2715768"/>
            <a:ext cx="4498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fusão de um substantivo com um adjetivo — ex.: “Pressão Alta”. Seu significado é o grau de compatibilidade de um elemento com o termo (a função de pertinência).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3429000"/>
            <a:ext cx="5120640" cy="566928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5701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42900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 (E)   </a:t>
            </a: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Interseção — geralmente o mínimo dos graus.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77240" y="4069080"/>
            <a:ext cx="5120640" cy="566928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970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06908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(OU)   </a:t>
            </a: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 — geralmente o máximo dos graus.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777240" y="4709160"/>
            <a:ext cx="5120640" cy="566928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83717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70916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 (NÃO)   </a:t>
            </a: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Negação — o complemento (1 − μ).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217920" y="1874520"/>
            <a:ext cx="5212080" cy="3657600"/>
          </a:xfrm>
          <a:prstGeom prst="rect">
            <a:avLst/>
          </a:prstGeom>
          <a:solidFill>
            <a:srgbClr val="0A2E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4"/>
          <p:cNvSpPr/>
          <p:nvPr/>
        </p:nvSpPr>
        <p:spPr>
          <a:xfrm>
            <a:off x="649224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booleano fuzzy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6492240" y="2606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esses três operadores podemos construir qualquer expressão lógica sobre conjuntos fuzzy.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492240" y="3566160"/>
            <a:ext cx="4663440" cy="566928"/>
          </a:xfrm>
          <a:prstGeom prst="roundRect">
            <a:avLst>
              <a:gd name="adj" fmla="val 80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7"/>
          <p:cNvSpPr/>
          <p:nvPr/>
        </p:nvSpPr>
        <p:spPr>
          <a:xfrm>
            <a:off x="6675120" y="356616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μ(Alto) ∧ μ(Jovem)   </a:t>
            </a:r>
            <a:r>
              <a:rPr lang="en-US" sz="1300" i="1" dirty="0">
                <a:solidFill>
                  <a:srgbClr val="02C39A"/>
                </a:solidFill>
              </a:rPr>
              <a:t>mín — “alto E jovem”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92240" y="4224528"/>
            <a:ext cx="4663440" cy="566928"/>
          </a:xfrm>
          <a:prstGeom prst="roundRect">
            <a:avLst>
              <a:gd name="adj" fmla="val 80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19"/>
          <p:cNvSpPr/>
          <p:nvPr/>
        </p:nvSpPr>
        <p:spPr>
          <a:xfrm>
            <a:off x="6675120" y="42245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μ(Alto) ∨ μ(Jovem)   </a:t>
            </a:r>
            <a:r>
              <a:rPr lang="en-US" sz="1300" i="1" dirty="0">
                <a:solidFill>
                  <a:srgbClr val="02C39A"/>
                </a:solidFill>
              </a:rPr>
              <a:t>máx — “alto OU jovem”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492240" y="4882896"/>
            <a:ext cx="4663440" cy="566928"/>
          </a:xfrm>
          <a:prstGeom prst="roundRect">
            <a:avLst>
              <a:gd name="adj" fmla="val 80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1"/>
          <p:cNvSpPr/>
          <p:nvPr/>
        </p:nvSpPr>
        <p:spPr>
          <a:xfrm>
            <a:off x="6675120" y="488289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μ(Alto)   </a:t>
            </a:r>
            <a:r>
              <a:rPr lang="en-US" sz="1300" i="1" dirty="0">
                <a:solidFill>
                  <a:srgbClr val="02C39A"/>
                </a:solidFill>
              </a:rPr>
              <a:t>“não alto”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DA TEORIA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função de pertinência μ(x)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5760720" cy="822960"/>
          </a:xfrm>
          <a:prstGeom prst="rect">
            <a:avLst/>
          </a:prstGeom>
          <a:solidFill>
            <a:srgbClr val="F4F8F9"/>
          </a:solidFill>
          <a:ln w="12700">
            <a:solidFill>
              <a:srgbClr val="D8E4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assets/f_membershi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20240" y="1993392"/>
            <a:ext cx="3474720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8346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Quantifica o grau com que um elemento pertence a um conjunto fuzzy — sempre entre 0 e 1.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77240" y="3703320"/>
            <a:ext cx="5760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777240" y="3703320"/>
            <a:ext cx="82296" cy="15544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1051560" y="395935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410565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56232" y="397764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“pessoa idosa”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088136" y="4727448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com 40 anos pode ter pertinência 0,5 (meio idosa); com 120 anos, pertinência 1,0 (absolutamente idosa).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812280" y="1874520"/>
            <a:ext cx="4617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2" descr="assets/classic_vs_fuzzy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49440" y="2057400"/>
            <a:ext cx="4343400" cy="3017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AO PROJETAR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escolha da função é subjetiva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120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82296" cy="169164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051560" y="222199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236829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56232" y="22402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 do projetista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88136" y="2990088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uma única função “correta”. A forma e os limites dependem do conhecimento científico e da experiência prática para cada aplicação.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196596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080760" y="1965960"/>
            <a:ext cx="82296" cy="16916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355080" y="222199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236829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9752" y="2240280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termo, funções diferentes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391656" y="2990088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“Alto” para um jogador de basquete e “alto” para uma criança de 5 anos exigem curvas distintas.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77240" y="3977640"/>
            <a:ext cx="10652760" cy="1554480"/>
          </a:xfrm>
          <a:prstGeom prst="rect">
            <a:avLst/>
          </a:prstGeom>
          <a:solidFill>
            <a:srgbClr val="0A2E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1051560" y="4297680"/>
            <a:ext cx="868680" cy="868680"/>
          </a:xfrm>
          <a:prstGeom prst="ellipse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4544568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148840" y="4160520"/>
            <a:ext cx="9052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VERIFIQUE: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desenharia a função de pertinência de “jovem”? Onde μ = 1? Onde começa a cair? Não há resposta única — e é por isso que projetar sistemas fuzzy é também uma arte.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180015" y="3108960"/>
            <a:ext cx="3657600" cy="365760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6868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324612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 de Pertinência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9448495" y="114300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15544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NEBULOSOS · DEFINIÇÃO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Representando por pares ordenados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conjunto nebuloso pode ser expresso por um conjunto de pares ordenados: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08960" y="2514600"/>
            <a:ext cx="5943600" cy="914400"/>
          </a:xfrm>
          <a:prstGeom prst="rect">
            <a:avLst/>
          </a:prstGeom>
          <a:solidFill>
            <a:srgbClr val="F4F8F9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assets/f_setde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0" y="2651760"/>
            <a:ext cx="484632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nebuloso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inclusão μ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6384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de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discurso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" y="4617720"/>
            <a:ext cx="10652760" cy="1051560"/>
          </a:xfrm>
          <a:prstGeom prst="rect">
            <a:avLst/>
          </a:prstGeom>
          <a:solidFill>
            <a:srgbClr val="0A2E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051560" y="461772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Altos = {(João, 1.6 → 0.0), (Ana, 1.7 → 0.5), (Oscar, 1.8 → 1.0)} — cada pessoa tem um grau de pertinência ao conjunto “altos”.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PERTINÊNCIA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Inclusão com grau e em múltiplos conjuntos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2120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82296" cy="3383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051560" y="217627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232257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56232" y="219456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Inclusão com grau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88136" y="2944368"/>
            <a:ext cx="45902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elemento pertence com um grau de certeza. Alguns são mais representativos da ideia central que outros.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alunos_excelentes = {(Pedro, 0.8), (Ana, 0.9), (Paulo, 1.0)}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muito_altos = {(Oscar, 0.95), (Michael Jordan, 0.95), (Junior, 0.8)}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920240"/>
            <a:ext cx="5257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172200" y="1920240"/>
            <a:ext cx="82296" cy="33832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446520" y="217627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32257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19456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Inclusão em múltiplos conjuntos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83096" y="2944368"/>
            <a:ext cx="46360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elemento pode ser membro parcial de vários conjuntos ao mesmo tempo.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= {Pedro, Ana, Paulo, Marta}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adolescentes = {Pedro, Mateus, Joaquim}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μ_crianças(Pedro) = 0.2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μ_adolescentes(Pedro) = 0.8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DISTINÇÃO CRÍTICA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Pertinência não é probabilidade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5120640" cy="3108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altura e o grau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278892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Pertencer ao conjunto “pessoas altas” com grau 0.25 indica um afastamento da definição ideal de “alto” — não que exista 25% de chance de a pessoa ser alta.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5257800" cy="3108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líquido na garrafa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46520" y="278892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Garrafa A:  </a:t>
            </a:r>
            <a:r>
              <a:rPr lang="en-US" sz="1450" dirty="0">
                <a:solidFill>
                  <a:srgbClr val="E8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de probabilidade de ser veneno puro.</a:t>
            </a: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Garrafa B:  </a:t>
            </a:r>
            <a:r>
              <a:rPr lang="en-US" sz="1450" dirty="0">
                <a:solidFill>
                  <a:srgbClr val="E8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 ao conjunto “água pura” com grau 0.95 (isto é, 5% de veneno).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b="1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qual você beberia?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REPRESENTANDO CONJUNTOS NEBULOSOS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lista de pares à função contínua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Ideia-chave:  </a:t>
            </a:r>
            <a:r>
              <a:rPr lang="en-US" sz="15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listar pares um a um, usamos uma função de inclusão que mapeia cada elemento do universo a um valor em [0, 1].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3200400"/>
            <a:ext cx="57607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3200400"/>
            <a:ext cx="82296" cy="2057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051560" y="345643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360273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56232" y="347472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“Alturas médias”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88136" y="4224528"/>
            <a:ext cx="5138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sobe de 1,5 m, atinge o pico de pertinência por volta de 1,7 m e desce até 1,9 m. É um conjunto fuzzy triangular — veja o gráfico ao lado.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12280" y="1874520"/>
            <a:ext cx="4617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1" descr="assets/altura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49440" y="2057400"/>
            <a:ext cx="4343400" cy="3017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FAMÍLIAS DE FUNÇÕES DE PERTINÊNCIA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quatro formas mais comuns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5166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assets/classic_ste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6968" y="1938528"/>
            <a:ext cx="2331720" cy="1655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83280" y="21945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Clássica (degrau)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83280" y="27889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conjuntos clássicos: 0 ou 1.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828800"/>
            <a:ext cx="5166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1" descr="assets/linea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27648" y="1938528"/>
            <a:ext cx="2331720" cy="1655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23960" y="21945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(rampa)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823960" y="27889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conjunto nebuloso mais simples.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77240" y="3931920"/>
            <a:ext cx="5166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3" name="Image 2" descr="assets/tri_trap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6968" y="4041648"/>
            <a:ext cx="2331720" cy="16550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83280" y="4297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Triangular e trapezoidal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383280" y="4892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Fáceis de implementar; 3 ou 4 parâmetros.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17920" y="3931920"/>
            <a:ext cx="5166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3" descr="assets/sigmoi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27648" y="4041648"/>
            <a:ext cx="2331720" cy="1655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23960" y="4297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Sigmóide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823960" y="4892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Transição suave; parâmetros α, β, γ.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INTEGRADOR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Variável “Temperatura” em conjuntos fuzzy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257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funções triangulares</a:t>
            </a:r>
            <a:endParaRPr lang="en-US" sz="1400" dirty="0"/>
          </a:p>
        </p:txBody>
      </p:sp>
      <p:pic>
        <p:nvPicPr>
          <p:cNvPr id="6" name="Image 0" descr="assets/temp_se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2286000"/>
            <a:ext cx="498348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783080"/>
            <a:ext cx="5166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355080" y="18745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funções gaussianas</a:t>
            </a:r>
            <a:endParaRPr lang="en-US" sz="1400" dirty="0"/>
          </a:p>
        </p:txBody>
      </p:sp>
      <p:pic>
        <p:nvPicPr>
          <p:cNvPr id="9" name="Image 1" descr="assets/temp_gaus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2286000"/>
            <a:ext cx="4892040" cy="2926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548640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23 °C, a temperatura pertence fortemente a “Normal” e um pouco a “Quente” — vários conjuntos ao mesmo tempo.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180015" y="3108960"/>
            <a:ext cx="3657600" cy="365760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6868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324612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Inferência e Controle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9448495" y="114300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15544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NEBULOSA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SE-ENTÃO: a base do raciocínio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10652760" cy="914400"/>
          </a:xfrm>
          <a:prstGeom prst="rect">
            <a:avLst/>
          </a:prstGeom>
          <a:solidFill>
            <a:srgbClr val="F4F8F9"/>
          </a:solidFill>
          <a:ln w="12700">
            <a:solidFill>
              <a:srgbClr val="D8E4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</a:t>
            </a:r>
            <a:r>
              <a:rPr lang="en-US" sz="1800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(antecedente)   </a:t>
            </a:r>
            <a:r>
              <a:rPr lang="en-US" sz="2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ENTÃO </a:t>
            </a:r>
            <a:r>
              <a:rPr lang="en-US" sz="1800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(consequente)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3154680"/>
            <a:ext cx="10652760" cy="2423160"/>
          </a:xfrm>
          <a:prstGeom prst="rect">
            <a:avLst/>
          </a:prstGeom>
          <a:solidFill>
            <a:srgbClr val="0A2E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5156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· controle de ar-condicionado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977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temperatura está </a:t>
            </a:r>
            <a:r>
              <a:rPr lang="en-US" sz="2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Alta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 umidade está </a:t>
            </a:r>
            <a:r>
              <a:rPr lang="en-US" sz="2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r>
              <a:rPr lang="en-US" sz="2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potência do ventilador é </a:t>
            </a:r>
            <a:r>
              <a:rPr lang="en-US" sz="2000" b="1" dirty="0">
                <a:solidFill>
                  <a:srgbClr val="7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etapas de um controlador fuzzy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33832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3383280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920240" y="2514600"/>
            <a:ext cx="1097280" cy="10972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2743200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60120" y="3794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Fuzzificação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69848" y="429768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valores físicos (ex.: temperatura) em graus de pertinência nos conjuntos fuzzy.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977640" y="3300984"/>
            <a:ext cx="621792" cy="621792"/>
          </a:xfrm>
          <a:prstGeom prst="ellipse">
            <a:avLst/>
          </a:prstGeom>
          <a:solidFill>
            <a:srgbClr val="05445E"/>
          </a:solidFill>
          <a:ln/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977640" y="32278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4416552" y="2103120"/>
            <a:ext cx="33832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416552" y="2103120"/>
            <a:ext cx="3383280" cy="10972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559552" y="2514600"/>
            <a:ext cx="1097280" cy="10972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743200"/>
            <a:ext cx="603504" cy="6035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4515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4599432" y="3794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Inferência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709160" y="429768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base de regras SE-ENTÃO, codificando o conhecimento de especialistas.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616952" y="3300984"/>
            <a:ext cx="621792" cy="621792"/>
          </a:xfrm>
          <a:prstGeom prst="ellipse">
            <a:avLst/>
          </a:prstGeom>
          <a:solidFill>
            <a:srgbClr val="05445E"/>
          </a:solidFill>
          <a:ln/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7616952" y="32278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22" name="Shape 18"/>
          <p:cNvSpPr/>
          <p:nvPr/>
        </p:nvSpPr>
        <p:spPr>
          <a:xfrm>
            <a:off x="8055864" y="2103120"/>
            <a:ext cx="33832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19"/>
          <p:cNvSpPr/>
          <p:nvPr/>
        </p:nvSpPr>
        <p:spPr>
          <a:xfrm>
            <a:off x="8055864" y="2103120"/>
            <a:ext cx="3383280" cy="10972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0"/>
          <p:cNvSpPr/>
          <p:nvPr/>
        </p:nvSpPr>
        <p:spPr>
          <a:xfrm>
            <a:off x="9198864" y="2514600"/>
            <a:ext cx="1097280" cy="109728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5752" y="2743200"/>
            <a:ext cx="603504" cy="60350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284464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7" name="Text 22"/>
          <p:cNvSpPr/>
          <p:nvPr/>
        </p:nvSpPr>
        <p:spPr>
          <a:xfrm>
            <a:off x="8238744" y="3794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Defuzzificação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8348472" y="429768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a decisão fuzzy de volta para um número que a máquina executa.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180015" y="3108960"/>
            <a:ext cx="3657600" cy="365760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6868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324612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Saúde no Espaço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9448495" y="114300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15544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monito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0A2E3D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-1097280" y="411480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772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173736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lógica fuzzy monitora a saúde de um astronauta?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77240" y="384048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missões de exploração, sistemas especialistas analisam sinais vitais em busca de padrões — ajudando a equipe na Terra a decidir se uma missão continua ou é abortada.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FUZZY?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multivariada, não alarmes isolados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120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82296" cy="310896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051560" y="222199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236829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56232" y="22402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convencional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88136" y="2990088"/>
            <a:ext cx="4498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um alarme apenas quando UM sinal (ex.: temperatura) ultrapassa um limite fixo. Ignora o contexto.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257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172200" y="1965960"/>
            <a:ext cx="82296" cy="3108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446520" y="222199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36829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24028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fuzzy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83096" y="2990088"/>
            <a:ext cx="46360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a COMBINAÇÃO de múltiplos sinais simultaneamente: temperatura corporal, pressão arterial e frequência cardíaca. Vê a história completa, não pontos isolados.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DO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sinais, três estados → 27 cenários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3383280" cy="160020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051560" y="2331720"/>
            <a:ext cx="777240" cy="777240"/>
          </a:xfrm>
          <a:prstGeom prst="ellipse">
            <a:avLst/>
          </a:prstGeom>
          <a:solidFill>
            <a:srgbClr val="FFFFFF">
              <a:alpha val="82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53288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286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Temperatura (x₁)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743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16552" y="1920240"/>
            <a:ext cx="3383280" cy="1600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690872" y="2331720"/>
            <a:ext cx="777240" cy="777240"/>
          </a:xfrm>
          <a:prstGeom prst="ellipse">
            <a:avLst/>
          </a:prstGeom>
          <a:solidFill>
            <a:srgbClr val="FFFFFF">
              <a:alpha val="82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3288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05272" y="2286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Pressão (x₂)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605272" y="2743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diastólica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55864" y="1920240"/>
            <a:ext cx="3383280" cy="1600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330184" y="2331720"/>
            <a:ext cx="777240" cy="777240"/>
          </a:xfrm>
          <a:prstGeom prst="ellipse">
            <a:avLst/>
          </a:prstGeom>
          <a:solidFill>
            <a:srgbClr val="FFFFFF">
              <a:alpha val="82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253288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44584" y="2286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Frequência (x₃)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244584" y="2743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cardíaca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77240" y="374904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sinal é classificado como  Baixo · Normal · Alto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3108960" y="4297680"/>
            <a:ext cx="5943600" cy="1371600"/>
          </a:xfrm>
          <a:prstGeom prst="rect">
            <a:avLst/>
          </a:prstGeom>
          <a:solidFill>
            <a:srgbClr val="0A2E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6"/>
          <p:cNvSpPr/>
          <p:nvPr/>
        </p:nvSpPr>
        <p:spPr>
          <a:xfrm>
            <a:off x="3108960" y="42976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3 × 3 = </a:t>
            </a: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cenários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FUZZIFICAÇÃO NA PRÁTICA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Faixas de pertinência dos sinais vitais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sinal vital é classificado em “Baixo”, “Normal” ou “Alto” por funções de pertinência. Os limites não são rígidos — há sobreposição.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880360"/>
            <a:ext cx="10652760" cy="777240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2880360"/>
            <a:ext cx="109728" cy="7772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51560" y="28803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°C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0" y="288036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 fortemente a “Normal”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767328"/>
            <a:ext cx="10652760" cy="777240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77240" y="3767328"/>
            <a:ext cx="109728" cy="77724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51560" y="376732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°C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0" y="376732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“Normal”, meio “Alto” — pertinência parcial em ambos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654296"/>
            <a:ext cx="10652760" cy="777240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77240" y="4654296"/>
            <a:ext cx="109728" cy="7772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051560" y="4654296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°C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0" y="4654296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 a “Alto”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REGRAS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Combinando sinais para diagnosticar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10652760" cy="1051560"/>
          </a:xfrm>
          <a:prstGeom prst="rect">
            <a:avLst/>
          </a:prstGeom>
          <a:solidFill>
            <a:srgbClr val="0A2E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51560" y="182880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= ALTA  E  Pressão = NORMAL  E  Batimentos = NORMAIS,  </a:t>
            </a:r>
            <a:r>
              <a:rPr lang="en-US" sz="16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</a:t>
            </a:r>
            <a:r>
              <a:rPr lang="en-US" sz="16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= FEBRE ALTA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cruzar os três sinais, o sistema identifica condições que sensores isolados ignorariam: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749040"/>
            <a:ext cx="10652760" cy="603504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14400" y="3867912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14400" y="38679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749040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Hipertireoidismo  —  </a:t>
            </a: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alta · Pressão alta · Batimentos rápidos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4425696"/>
            <a:ext cx="10652760" cy="603504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914400" y="4544568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FF9F1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14400" y="45445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425696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Insolação (heat stroke)  —  </a:t>
            </a: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alta · Pressão baixa · Batimentos normais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5102352"/>
            <a:ext cx="10652760" cy="603504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914400" y="5221224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14400" y="52212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5102352"/>
            <a:ext cx="923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Hipotermia  —  </a:t>
            </a: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corporal baixa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1280160" cy="1280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1488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18288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Termômetro vs. médico experiente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468880" y="265176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termômetro digital </a:t>
            </a: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apita se você tem febre.  </a:t>
            </a:r>
            <a:r>
              <a:rPr lang="en-US" sz="18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médico experiente </a:t>
            </a: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 que a febre, combinada com pressão baixa e pulso rápido, conta uma história muito mais específica sobre o que acontece no seu corpo.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468880" y="4526280"/>
            <a:ext cx="8732520" cy="1188720"/>
          </a:xfrm>
          <a:prstGeom prst="rect">
            <a:avLst/>
          </a:prstGeom>
          <a:solidFill>
            <a:srgbClr val="0A2E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743200" y="4526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fuzzy é o médico experiente — permite diagnóstico precoce, reduzindo o tempo de reação antes mesmo do exame físico.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27 CENÁRIOS · PARTE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Cenários de condição única (C0–C6)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52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452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1874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Normal · Pressão Normal · Batimentos Normais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478024"/>
            <a:ext cx="10652760" cy="548640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914400" y="2569464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14400" y="256946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74520" y="24780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 Alta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47802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Alta · Pressão Normal · Batimentos Normais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081528"/>
            <a:ext cx="10652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914400" y="3172968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14400" y="31729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74520" y="3081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Hipertensão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0815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Normal · Pressão Alta · Batimentos Normais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3685032"/>
            <a:ext cx="10652760" cy="548640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14400" y="3776472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14400" y="37764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74520" y="36850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Rápida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368503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Normal · Pressão Normal · Batimentos Altos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" y="4288536"/>
            <a:ext cx="10652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14400" y="4379976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914400" y="437997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874520" y="42885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Hipotermia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7680" y="428853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Baixa · Pressão Normal · Batimentos Normais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" y="4892040"/>
            <a:ext cx="10652760" cy="548640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914400" y="498348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914400" y="49834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87452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Baixa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297680" y="4892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Normal · Pressão Baixa · Batimentos Normais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7240" y="5495544"/>
            <a:ext cx="10652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914400" y="5586984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914400" y="558698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874520" y="54955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Baixa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297680" y="54955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Normal · Pressão Normal · Batimentos Baixos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27 CENÁRIOS · PARTE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Combinações multivariadas (C7–C26)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 cenários extras surgem ao combinar leituras anormais. Os clinicamente nomeados: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423160"/>
            <a:ext cx="10652760" cy="713232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14400" y="2596896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FF9F1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259689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65960" y="24231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Insolação / Heat Stroke  —  </a:t>
            </a:r>
            <a:r>
              <a:rPr lang="en-US" sz="14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alta · Pressão baixa · Batimentos normais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7240" y="3227832"/>
            <a:ext cx="10652760" cy="713232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914400" y="3401568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14400" y="34015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227832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Feocromocitoma  —  </a:t>
            </a:r>
            <a:r>
              <a:rPr lang="en-US" sz="14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alta · Pressão alta · Batimentos normais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4032504"/>
            <a:ext cx="10652760" cy="713232"/>
          </a:xfrm>
          <a:prstGeom prst="rect">
            <a:avLst/>
          </a:prstGeom>
          <a:solidFill>
            <a:srgbClr val="F4F8F9"/>
          </a:solidFill>
          <a:ln w="12700">
            <a:solidFill>
              <a:srgbClr val="E3EC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914400" y="420624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C145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42062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032504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Hipertireoidismo  —  </a:t>
            </a:r>
            <a:r>
              <a:rPr lang="en-US" sz="14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alta · Pressão alta · Batimentos altos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77240" y="4983480"/>
            <a:ext cx="10652760" cy="868680"/>
          </a:xfrm>
          <a:prstGeom prst="rect">
            <a:avLst/>
          </a:prstGeom>
          <a:solidFill>
            <a:srgbClr val="0A2E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051560" y="4983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demais (C7–C24)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combinações ainda sem rótulo clínico fixo — mas o sistema os distingue, dando ao médico um quadro completo.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1295" y="-13716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Importância para os astronautas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8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como auxílio de diagnóstico precoce. Permite que a equipe médica na Terra — ou o médico a bordo — decida se a missão continua ou deve ser abortada, preparando o tratamento antes mesmo de um exame físico detalhado.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77240" y="4937760"/>
            <a:ext cx="10652760" cy="9601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166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493776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 </a:t>
            </a: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G. &amp; Pham, T. T. — Introduction to Fuzzy Sets, Fuzzy Logic, and Fuzzy Control Systems (University of Houston).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ideias que você leva desta aula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5120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82296" cy="1691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051560" y="213055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227685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56232" y="214884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Pertinência parcial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88136" y="2898648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mundo real raramente é 0 ou 1; o grau μ(x) captura o “entre”.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120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172200" y="1874520"/>
            <a:ext cx="82296" cy="1691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446520" y="213055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27685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14884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Palavras viram matemática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83096" y="2898648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linguísticas e funções de pertinência traduzem a linguagem humana.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77240" y="3840480"/>
            <a:ext cx="5120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777240" y="3840480"/>
            <a:ext cx="82296" cy="1691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1051560" y="409651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864" y="4242816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56232" y="411480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SE-ENTÃO decidem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1088136" y="4864608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Fuzzificar → inferir → defuzzificar é o ciclo de todo controlador fuzzy.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172200" y="3840480"/>
            <a:ext cx="5120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EE"/>
            </a:solidFill>
            <a:prstDash val="solid"/>
          </a:ln>
          <a:effectLst>
            <a:outerShdw blurRad="114300" dist="38100" dir="5400000" algn="bl" rotWithShape="0">
              <a:srgbClr val="0A2E3D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6172200" y="3840480"/>
            <a:ext cx="82296" cy="1691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6446520" y="4096512"/>
            <a:ext cx="640080" cy="64008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4242816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51192" y="411480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Combinar sinais revela mais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483096" y="4864608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do astronauta mostra o poder da análise multivariada fuzzy.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77240" y="539496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final: que decisão do seu dia a dia você tomaria melhor pensando em “graus” em vez de “sim ou não”?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448495" y="3474720"/>
            <a:ext cx="4572000" cy="45720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41248" y="35661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Dúvidas, exemplos e a lista de exercícios na próxima aula.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4297680"/>
            <a:ext cx="201168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William Malvezzi</a:t>
            </a:r>
            <a:r>
              <a:rPr lang="en-US" sz="1400" dirty="0">
                <a:solidFill>
                  <a:srgbClr val="9F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Inteligência Artificial · UCB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2912</Words>
  <Application>Microsoft Macintosh PowerPoint</Application>
  <PresentationFormat>Widescreen</PresentationFormat>
  <Paragraphs>454</Paragraphs>
  <Slides>44</Slides>
  <Notes>44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aos Conjuntos Nebulosos</dc:title>
  <dc:subject>PptxGenJS Presentation</dc:subject>
  <dc:creator>William Malvezzi</dc:creator>
  <cp:lastModifiedBy>William Roberto Malvezzi</cp:lastModifiedBy>
  <cp:revision>2</cp:revision>
  <dcterms:created xsi:type="dcterms:W3CDTF">2026-06-02T22:28:41Z</dcterms:created>
  <dcterms:modified xsi:type="dcterms:W3CDTF">2026-06-02T22:32:08Z</dcterms:modified>
</cp:coreProperties>
</file>